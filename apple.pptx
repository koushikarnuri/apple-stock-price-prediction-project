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6" r:id="rId3"/>
    <p:sldId id="257" r:id="rId4"/>
    <p:sldId id="258" r:id="rId5"/>
    <p:sldId id="259" r:id="rId6"/>
    <p:sldId id="268" r:id="rId7"/>
    <p:sldId id="269" r:id="rId8"/>
    <p:sldId id="271" r:id="rId9"/>
    <p:sldId id="272" r:id="rId10"/>
    <p:sldId id="270" r:id="rId11"/>
    <p:sldId id="274" r:id="rId12"/>
    <p:sldId id="276" r:id="rId13"/>
    <p:sldId id="275" r:id="rId14"/>
    <p:sldId id="277" r:id="rId15"/>
    <p:sldId id="273" r:id="rId16"/>
    <p:sldId id="279" r:id="rId17"/>
    <p:sldId id="278" r:id="rId18"/>
    <p:sldId id="280" r:id="rId19"/>
    <p:sldId id="281" r:id="rId20"/>
    <p:sldId id="282" r:id="rId21"/>
    <p:sldId id="283" r:id="rId22"/>
    <p:sldId id="284" r:id="rId23"/>
    <p:sldId id="285" r:id="rId24"/>
    <p:sldId id="286" r:id="rId25"/>
    <p:sldId id="288" r:id="rId26"/>
    <p:sldId id="289" r:id="rId27"/>
    <p:sldId id="290" r:id="rId28"/>
    <p:sldId id="291" r:id="rId29"/>
    <p:sldId id="287" r:id="rId30"/>
    <p:sldId id="292" r:id="rId31"/>
  </p:sldIdLst>
  <p:sldSz cx="18288000" cy="10287000"/>
  <p:notesSz cx="6858000" cy="9144000"/>
  <p:embeddedFontLst>
    <p:embeddedFont>
      <p:font typeface="Constantia" panose="02030602050306030303" pitchFamily="18" charset="0"/>
      <p:regular r:id="rId32"/>
      <p:bold r:id="rId33"/>
      <p:italic r:id="rId34"/>
      <p:boldItalic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0" d="100"/>
          <a:sy n="50" d="100"/>
        </p:scale>
        <p:origin x="946" y="2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0480" y="190500"/>
            <a:ext cx="3830603" cy="3793734"/>
          </a:xfrm>
          <a:custGeom>
            <a:avLst/>
            <a:gdLst/>
            <a:ahLst/>
            <a:cxnLst/>
            <a:rect l="l" t="t" r="r" b="b"/>
            <a:pathLst>
              <a:path w="9115816" h="9149085">
                <a:moveTo>
                  <a:pt x="0" y="0"/>
                </a:moveTo>
                <a:lnTo>
                  <a:pt x="9115815" y="0"/>
                </a:lnTo>
                <a:lnTo>
                  <a:pt x="9115815" y="9149085"/>
                </a:lnTo>
                <a:lnTo>
                  <a:pt x="0" y="914908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3" name="Freeform 3"/>
          <p:cNvSpPr/>
          <p:nvPr/>
        </p:nvSpPr>
        <p:spPr>
          <a:xfrm rot="66961">
            <a:off x="13317130" y="4674260"/>
            <a:ext cx="6316550" cy="7207681"/>
          </a:xfrm>
          <a:custGeom>
            <a:avLst/>
            <a:gdLst/>
            <a:ahLst/>
            <a:cxnLst/>
            <a:rect l="l" t="t" r="r" b="b"/>
            <a:pathLst>
              <a:path w="6316550" h="7207681">
                <a:moveTo>
                  <a:pt x="0" y="0"/>
                </a:moveTo>
                <a:lnTo>
                  <a:pt x="6316550" y="0"/>
                </a:lnTo>
                <a:lnTo>
                  <a:pt x="6316550" y="7207681"/>
                </a:lnTo>
                <a:lnTo>
                  <a:pt x="0" y="720768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1131464" y="3009900"/>
            <a:ext cx="16025071" cy="3502497"/>
          </a:xfrm>
          <a:prstGeom prst="rect">
            <a:avLst/>
          </a:prstGeom>
        </p:spPr>
        <p:txBody>
          <a:bodyPr wrap="square" lIns="0" tIns="0" rIns="0" bIns="0" rtlCol="0" anchor="t">
            <a:spAutoFit/>
          </a:bodyPr>
          <a:lstStyle/>
          <a:p>
            <a:pPr marL="0" lvl="0" indent="0" algn="ctr">
              <a:lnSpc>
                <a:spcPct val="150000"/>
              </a:lnSpc>
              <a:spcBef>
                <a:spcPct val="0"/>
              </a:spcBef>
            </a:pPr>
            <a:r>
              <a:rPr lang="en-US" sz="8000" dirty="0">
                <a:latin typeface="Constantia" panose="02030602050306030303" pitchFamily="18" charset="0"/>
                <a:ea typeface="Garet Bold"/>
                <a:cs typeface="Garet Bold"/>
                <a:sym typeface="Garet Bold"/>
              </a:rPr>
              <a:t>APPLE  STOCK   PRICE PREDICITON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D09DD-A0DB-5F91-5652-5D681AA99BEC}"/>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4EDC82D1-07E2-9C1E-ECD1-7320DAD7B49A}"/>
              </a:ext>
            </a:extLst>
          </p:cNvPr>
          <p:cNvSpPr/>
          <p:nvPr/>
        </p:nvSpPr>
        <p:spPr>
          <a:xfrm rot="66961">
            <a:off x="11901858" y="3018489"/>
            <a:ext cx="6316550" cy="7207681"/>
          </a:xfrm>
          <a:custGeom>
            <a:avLst/>
            <a:gdLst/>
            <a:ahLst/>
            <a:cxnLst/>
            <a:rect l="l" t="t" r="r" b="b"/>
            <a:pathLst>
              <a:path w="6316550" h="7207681">
                <a:moveTo>
                  <a:pt x="0" y="0"/>
                </a:moveTo>
                <a:lnTo>
                  <a:pt x="6316550" y="0"/>
                </a:lnTo>
                <a:lnTo>
                  <a:pt x="6316550" y="7207681"/>
                </a:lnTo>
                <a:lnTo>
                  <a:pt x="0" y="72076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4" name="TextBox 3">
            <a:extLst>
              <a:ext uri="{FF2B5EF4-FFF2-40B4-BE49-F238E27FC236}">
                <a16:creationId xmlns:a16="http://schemas.microsoft.com/office/drawing/2014/main" id="{A0F56A08-6A9B-70C9-6BC9-656E442288C1}"/>
              </a:ext>
            </a:extLst>
          </p:cNvPr>
          <p:cNvSpPr txBox="1"/>
          <p:nvPr/>
        </p:nvSpPr>
        <p:spPr>
          <a:xfrm>
            <a:off x="685800" y="571500"/>
            <a:ext cx="16687800" cy="1200329"/>
          </a:xfrm>
          <a:prstGeom prst="rect">
            <a:avLst/>
          </a:prstGeom>
          <a:noFill/>
        </p:spPr>
        <p:txBody>
          <a:bodyPr wrap="square" rtlCol="0">
            <a:spAutoFit/>
          </a:bodyPr>
          <a:lstStyle/>
          <a:p>
            <a:pPr algn="just"/>
            <a:r>
              <a:rPr lang="en-US" sz="7200" dirty="0"/>
              <a:t>         Mentor and team members :</a:t>
            </a:r>
            <a:endParaRPr lang="en-IN" sz="7200" dirty="0"/>
          </a:p>
        </p:txBody>
      </p:sp>
      <p:sp>
        <p:nvSpPr>
          <p:cNvPr id="5" name="TextBox 4">
            <a:extLst>
              <a:ext uri="{FF2B5EF4-FFF2-40B4-BE49-F238E27FC236}">
                <a16:creationId xmlns:a16="http://schemas.microsoft.com/office/drawing/2014/main" id="{7C62B3F5-8C21-C36A-D633-3D7AC3B78CB7}"/>
              </a:ext>
            </a:extLst>
          </p:cNvPr>
          <p:cNvSpPr txBox="1"/>
          <p:nvPr/>
        </p:nvSpPr>
        <p:spPr>
          <a:xfrm>
            <a:off x="457200" y="2084633"/>
            <a:ext cx="10134600" cy="1107996"/>
          </a:xfrm>
          <a:prstGeom prst="rect">
            <a:avLst/>
          </a:prstGeom>
          <a:noFill/>
        </p:spPr>
        <p:txBody>
          <a:bodyPr wrap="square" rtlCol="0">
            <a:spAutoFit/>
          </a:bodyPr>
          <a:lstStyle/>
          <a:p>
            <a:r>
              <a:rPr lang="en-US" sz="6600" dirty="0"/>
              <a:t>Mentor : Sadiya Ansari</a:t>
            </a:r>
            <a:endParaRPr lang="en-IN" sz="6600" dirty="0"/>
          </a:p>
        </p:txBody>
      </p:sp>
      <p:sp>
        <p:nvSpPr>
          <p:cNvPr id="6" name="TextBox 5">
            <a:extLst>
              <a:ext uri="{FF2B5EF4-FFF2-40B4-BE49-F238E27FC236}">
                <a16:creationId xmlns:a16="http://schemas.microsoft.com/office/drawing/2014/main" id="{A92398A6-A476-22BB-6C42-2098918A9E78}"/>
              </a:ext>
            </a:extLst>
          </p:cNvPr>
          <p:cNvSpPr txBox="1"/>
          <p:nvPr/>
        </p:nvSpPr>
        <p:spPr>
          <a:xfrm>
            <a:off x="658964" y="3505433"/>
            <a:ext cx="8763000" cy="6740307"/>
          </a:xfrm>
          <a:prstGeom prst="rect">
            <a:avLst/>
          </a:prstGeom>
          <a:noFill/>
        </p:spPr>
        <p:txBody>
          <a:bodyPr wrap="square" rtlCol="0">
            <a:spAutoFit/>
          </a:bodyPr>
          <a:lstStyle/>
          <a:p>
            <a:r>
              <a:rPr lang="en-IN" sz="5400" b="1" dirty="0"/>
              <a:t>Group Members:</a:t>
            </a:r>
            <a:endParaRPr lang="en-IN" sz="5400" dirty="0"/>
          </a:p>
          <a:p>
            <a:r>
              <a:rPr lang="en-IN" sz="5400" dirty="0"/>
              <a:t>Koushik</a:t>
            </a:r>
          </a:p>
          <a:p>
            <a:r>
              <a:rPr lang="en-IN" sz="5400" dirty="0"/>
              <a:t>Mohith</a:t>
            </a:r>
          </a:p>
          <a:p>
            <a:r>
              <a:rPr lang="en-IN" sz="5400" dirty="0"/>
              <a:t>Jaideep</a:t>
            </a:r>
          </a:p>
          <a:p>
            <a:r>
              <a:rPr lang="en-IN" sz="5400" dirty="0"/>
              <a:t>Sudeep</a:t>
            </a:r>
          </a:p>
          <a:p>
            <a:r>
              <a:rPr lang="en-IN" sz="5400" dirty="0"/>
              <a:t>Indrajeet</a:t>
            </a:r>
          </a:p>
          <a:p>
            <a:r>
              <a:rPr lang="en-IN" sz="5400" dirty="0" err="1"/>
              <a:t>Venkateswarlu</a:t>
            </a:r>
            <a:endParaRPr lang="en-IN" sz="5400" dirty="0"/>
          </a:p>
          <a:p>
            <a:endParaRPr lang="en-IN" sz="5400" dirty="0"/>
          </a:p>
        </p:txBody>
      </p:sp>
    </p:spTree>
    <p:extLst>
      <p:ext uri="{BB962C8B-B14F-4D97-AF65-F5344CB8AC3E}">
        <p14:creationId xmlns:p14="http://schemas.microsoft.com/office/powerpoint/2010/main" val="962141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5916079" y="7927508"/>
            <a:ext cx="1966400" cy="2285350"/>
          </a:xfrm>
          <a:custGeom>
            <a:avLst/>
            <a:gdLst/>
            <a:ahLst/>
            <a:cxnLst/>
            <a:rect l="l" t="t" r="r" b="b"/>
            <a:pathLst>
              <a:path w="5227008" h="5246085">
                <a:moveTo>
                  <a:pt x="0" y="0"/>
                </a:moveTo>
                <a:lnTo>
                  <a:pt x="5227008" y="0"/>
                </a:lnTo>
                <a:lnTo>
                  <a:pt x="5227008" y="5246085"/>
                </a:lnTo>
                <a:lnTo>
                  <a:pt x="0" y="5246085"/>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IN" dirty="0"/>
          </a:p>
        </p:txBody>
      </p:sp>
      <p:sp>
        <p:nvSpPr>
          <p:cNvPr id="4" name="Freeform 4"/>
          <p:cNvSpPr/>
          <p:nvPr/>
        </p:nvSpPr>
        <p:spPr>
          <a:xfrm rot="-489537">
            <a:off x="15592299" y="172310"/>
            <a:ext cx="2613961" cy="2603577"/>
          </a:xfrm>
          <a:custGeom>
            <a:avLst/>
            <a:gdLst/>
            <a:ahLst/>
            <a:cxnLst/>
            <a:rect l="l" t="t" r="r" b="b"/>
            <a:pathLst>
              <a:path w="3553691" h="4114800">
                <a:moveTo>
                  <a:pt x="0" y="0"/>
                </a:moveTo>
                <a:lnTo>
                  <a:pt x="3553691" y="0"/>
                </a:lnTo>
                <a:lnTo>
                  <a:pt x="355369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 name="TextBox 1">
            <a:extLst>
              <a:ext uri="{FF2B5EF4-FFF2-40B4-BE49-F238E27FC236}">
                <a16:creationId xmlns:a16="http://schemas.microsoft.com/office/drawing/2014/main" id="{1DECB267-68BF-77D9-7A8A-96C3248978C3}"/>
              </a:ext>
            </a:extLst>
          </p:cNvPr>
          <p:cNvSpPr txBox="1"/>
          <p:nvPr/>
        </p:nvSpPr>
        <p:spPr>
          <a:xfrm>
            <a:off x="152400" y="495300"/>
            <a:ext cx="12573000" cy="1200329"/>
          </a:xfrm>
          <a:prstGeom prst="rect">
            <a:avLst/>
          </a:prstGeom>
          <a:noFill/>
        </p:spPr>
        <p:txBody>
          <a:bodyPr wrap="square" rtlCol="0">
            <a:spAutoFit/>
          </a:bodyPr>
          <a:lstStyle/>
          <a:p>
            <a:r>
              <a:rPr lang="en-IN" sz="7200" dirty="0"/>
              <a:t>Objectives : </a:t>
            </a:r>
            <a:endParaRPr lang="en-US" sz="7200" dirty="0"/>
          </a:p>
        </p:txBody>
      </p:sp>
      <p:sp>
        <p:nvSpPr>
          <p:cNvPr id="5" name="TextBox 4">
            <a:extLst>
              <a:ext uri="{FF2B5EF4-FFF2-40B4-BE49-F238E27FC236}">
                <a16:creationId xmlns:a16="http://schemas.microsoft.com/office/drawing/2014/main" id="{8E381A22-09EA-2191-FD13-7E625063BAC1}"/>
              </a:ext>
            </a:extLst>
          </p:cNvPr>
          <p:cNvSpPr txBox="1"/>
          <p:nvPr/>
        </p:nvSpPr>
        <p:spPr>
          <a:xfrm>
            <a:off x="405521" y="2220397"/>
            <a:ext cx="15849600" cy="7571303"/>
          </a:xfrm>
          <a:prstGeom prst="rect">
            <a:avLst/>
          </a:prstGeom>
          <a:noFill/>
        </p:spPr>
        <p:txBody>
          <a:bodyPr wrap="square" rtlCol="0">
            <a:spAutoFit/>
          </a:bodyPr>
          <a:lstStyle/>
          <a:p>
            <a:pPr algn="just"/>
            <a:r>
              <a:rPr lang="en-US" sz="3600" dirty="0"/>
              <a:t>The primary objectives of this project are as follows:</a:t>
            </a:r>
          </a:p>
          <a:p>
            <a:pPr marL="571500" indent="-571500" algn="just">
              <a:buFont typeface="Arial" panose="020B0604020202020204" pitchFamily="34" charset="0"/>
              <a:buChar char="•"/>
            </a:pPr>
            <a:r>
              <a:rPr lang="en-US" sz="3600" dirty="0"/>
              <a:t>To analyze historical Apple (AAPL) stock price data using exploratory data analysis techniques in order to understand trends, volatility, and market behavior.</a:t>
            </a:r>
          </a:p>
          <a:p>
            <a:pPr marL="571500" indent="-571500" algn="just">
              <a:buFont typeface="Arial" panose="020B0604020202020204" pitchFamily="34" charset="0"/>
              <a:buChar char="•"/>
            </a:pPr>
            <a:r>
              <a:rPr lang="en-US" sz="3600" dirty="0"/>
              <a:t>To apply classical time-series forecasting models such as ARIMA and SARIMA for baseline prediction.</a:t>
            </a:r>
          </a:p>
          <a:p>
            <a:pPr marL="571500" indent="-571500" algn="just">
              <a:buFont typeface="Arial" panose="020B0604020202020204" pitchFamily="34" charset="0"/>
              <a:buChar char="•"/>
            </a:pPr>
            <a:r>
              <a:rPr lang="en-US" sz="3600" dirty="0"/>
              <a:t>To implement machine learning and deep learning models including Random Forest, </a:t>
            </a:r>
            <a:r>
              <a:rPr lang="en-US" sz="3600" dirty="0" err="1"/>
              <a:t>XGBoost</a:t>
            </a:r>
            <a:r>
              <a:rPr lang="en-US" sz="3600" dirty="0"/>
              <a:t>, and LSTM for improved forecasting accuracy.</a:t>
            </a:r>
          </a:p>
          <a:p>
            <a:pPr marL="571500" indent="-571500" algn="just">
              <a:buFont typeface="Arial" panose="020B0604020202020204" pitchFamily="34" charset="0"/>
              <a:buChar char="•"/>
            </a:pPr>
            <a:r>
              <a:rPr lang="en-US" sz="3600" dirty="0"/>
              <a:t>To evaluate and compare all models using performance metrics such as RMSE and MAPE.</a:t>
            </a:r>
          </a:p>
          <a:p>
            <a:pPr marL="571500" indent="-571500" algn="just">
              <a:buFont typeface="Arial" panose="020B0604020202020204" pitchFamily="34" charset="0"/>
              <a:buChar char="•"/>
            </a:pPr>
            <a:r>
              <a:rPr lang="en-US" sz="3600" dirty="0"/>
              <a:t>To identify the best-performing model based on predictive accuracy and reliability.</a:t>
            </a:r>
          </a:p>
          <a:p>
            <a:pPr marL="571500" indent="-571500" algn="just">
              <a:buFont typeface="Arial" panose="020B0604020202020204" pitchFamily="34" charset="0"/>
              <a:buChar char="•"/>
            </a:pPr>
            <a:r>
              <a:rPr lang="en-US" sz="3600" dirty="0"/>
              <a:t>To forecast Apple stock prices for the next 30 trading days using the optimal model.</a:t>
            </a: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93CCAB5-D8C0-7907-70E9-35E549959B5C}"/>
              </a:ext>
            </a:extLst>
          </p:cNvPr>
          <p:cNvSpPr txBox="1"/>
          <p:nvPr/>
        </p:nvSpPr>
        <p:spPr>
          <a:xfrm>
            <a:off x="381000" y="986772"/>
            <a:ext cx="17678400" cy="9202519"/>
          </a:xfrm>
          <a:prstGeom prst="rect">
            <a:avLst/>
          </a:prstGeom>
          <a:noFill/>
        </p:spPr>
        <p:txBody>
          <a:bodyPr wrap="square" rtlCol="0">
            <a:spAutoFit/>
          </a:bodyPr>
          <a:lstStyle/>
          <a:p>
            <a:r>
              <a:rPr lang="en-US" sz="4800" b="1" dirty="0"/>
              <a:t>Dataset Details :</a:t>
            </a:r>
          </a:p>
          <a:p>
            <a:r>
              <a:rPr lang="en-US" sz="3200" dirty="0"/>
              <a:t>The dataset used in this project consists of historical stock market data for </a:t>
            </a:r>
            <a:r>
              <a:rPr lang="en-US" sz="3200" b="1" dirty="0"/>
              <a:t>Apple Inc. (AAPL)</a:t>
            </a:r>
            <a:r>
              <a:rPr lang="en-US" sz="3200" dirty="0"/>
              <a:t>. It contains daily trading information collected from publicly available financial sources. The dataset represents real-world financial time-series data and captures the price movement and trading activity of Apple stock over a long period.</a:t>
            </a:r>
          </a:p>
          <a:p>
            <a:r>
              <a:rPr lang="en-US" sz="3200" dirty="0"/>
              <a:t>The dataset includes the following attributes:</a:t>
            </a:r>
          </a:p>
          <a:p>
            <a:r>
              <a:rPr lang="en-US" sz="3200" b="1" dirty="0"/>
              <a:t>Date</a:t>
            </a:r>
            <a:r>
              <a:rPr lang="en-US" sz="3200" dirty="0"/>
              <a:t> – Trading date of the stock</a:t>
            </a:r>
          </a:p>
          <a:p>
            <a:r>
              <a:rPr lang="en-US" sz="3200" b="1" dirty="0"/>
              <a:t>Open</a:t>
            </a:r>
            <a:r>
              <a:rPr lang="en-US" sz="3200" dirty="0"/>
              <a:t> – Opening price of the stock on a given day </a:t>
            </a:r>
          </a:p>
          <a:p>
            <a:r>
              <a:rPr lang="en-US" sz="3200" b="1" dirty="0"/>
              <a:t>High</a:t>
            </a:r>
            <a:r>
              <a:rPr lang="en-US" sz="3200" dirty="0"/>
              <a:t> – Highest price reached during the trading day</a:t>
            </a:r>
          </a:p>
          <a:p>
            <a:r>
              <a:rPr lang="en-US" sz="3200" b="1" dirty="0"/>
              <a:t>Low</a:t>
            </a:r>
            <a:r>
              <a:rPr lang="en-US" sz="3200" dirty="0"/>
              <a:t> – Lowest price reached during the trading day</a:t>
            </a:r>
          </a:p>
          <a:p>
            <a:r>
              <a:rPr lang="en-US" sz="3200" b="1" dirty="0"/>
              <a:t>Close</a:t>
            </a:r>
            <a:r>
              <a:rPr lang="en-US" sz="3200" dirty="0"/>
              <a:t> – Closing price of the stock</a:t>
            </a:r>
          </a:p>
          <a:p>
            <a:r>
              <a:rPr lang="en-US" sz="3200" b="1" dirty="0"/>
              <a:t>Adj Close</a:t>
            </a:r>
            <a:r>
              <a:rPr lang="en-US" sz="3200" dirty="0"/>
              <a:t> – Adjusted closing price accounting for dividends and stock splits</a:t>
            </a:r>
          </a:p>
          <a:p>
            <a:r>
              <a:rPr lang="en-US" sz="3200" b="1" dirty="0"/>
              <a:t>Volume</a:t>
            </a:r>
            <a:r>
              <a:rPr lang="en-US" sz="3200" dirty="0"/>
              <a:t> – Total number of shares traded on that day</a:t>
            </a:r>
          </a:p>
          <a:p>
            <a:r>
              <a:rPr lang="en-US" sz="3200" dirty="0"/>
              <a:t>The </a:t>
            </a:r>
            <a:r>
              <a:rPr lang="en-US" sz="3200" b="1" dirty="0"/>
              <a:t>Date column</a:t>
            </a:r>
            <a:r>
              <a:rPr lang="en-US" sz="3200" dirty="0"/>
              <a:t> was converted into datetime format and set as the index to maintain the temporal sequence of the data. Since this is time-series data, chronological order was strictly preserved throughout the analysis. The dataset provides sufficient historical depth to analyze trends, volatility, and patterns required for forecasting future stock prices.</a:t>
            </a:r>
          </a:p>
          <a:p>
            <a:endParaRPr lang="en-IN" sz="3200" dirty="0"/>
          </a:p>
        </p:txBody>
      </p:sp>
      <p:sp>
        <p:nvSpPr>
          <p:cNvPr id="10" name="Freeform 4">
            <a:extLst>
              <a:ext uri="{FF2B5EF4-FFF2-40B4-BE49-F238E27FC236}">
                <a16:creationId xmlns:a16="http://schemas.microsoft.com/office/drawing/2014/main" id="{3C0D6CD6-51BA-10D3-091C-83979B959B5B}"/>
              </a:ext>
            </a:extLst>
          </p:cNvPr>
          <p:cNvSpPr/>
          <p:nvPr/>
        </p:nvSpPr>
        <p:spPr>
          <a:xfrm>
            <a:off x="14097000" y="3895292"/>
            <a:ext cx="2049205" cy="2496416"/>
          </a:xfrm>
          <a:custGeom>
            <a:avLst/>
            <a:gdLst/>
            <a:ahLst/>
            <a:cxnLst/>
            <a:rect l="l" t="t" r="r" b="b"/>
            <a:pathLst>
              <a:path w="3725605" h="3773633">
                <a:moveTo>
                  <a:pt x="0" y="0"/>
                </a:moveTo>
                <a:lnTo>
                  <a:pt x="3725605" y="0"/>
                </a:lnTo>
                <a:lnTo>
                  <a:pt x="3725605" y="3773633"/>
                </a:lnTo>
                <a:lnTo>
                  <a:pt x="0" y="37736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C0DEB63-81FD-1391-E4B0-A091B3DDA3C5}"/>
              </a:ext>
            </a:extLst>
          </p:cNvPr>
          <p:cNvSpPr txBox="1"/>
          <p:nvPr/>
        </p:nvSpPr>
        <p:spPr>
          <a:xfrm>
            <a:off x="381000" y="266700"/>
            <a:ext cx="17373600" cy="8863965"/>
          </a:xfrm>
          <a:prstGeom prst="rect">
            <a:avLst/>
          </a:prstGeom>
          <a:noFill/>
        </p:spPr>
        <p:txBody>
          <a:bodyPr wrap="square" rtlCol="0">
            <a:spAutoFit/>
          </a:bodyPr>
          <a:lstStyle/>
          <a:p>
            <a:r>
              <a:rPr lang="en-US" sz="7200" dirty="0"/>
              <a:t>Data Preprocessing :</a:t>
            </a:r>
          </a:p>
          <a:p>
            <a:endParaRPr lang="en-US" sz="6000" dirty="0"/>
          </a:p>
          <a:p>
            <a:r>
              <a:rPr lang="en-US" sz="6000" dirty="0"/>
              <a:t>Data preprocessing is a critical step in time-series analysis. The Date column was converted into a datetime format and set as the index. The data was sorted chronologically to preserve temporal order. Additional features such as moving averages, volatility, and daily returns were created to enhance model performance.</a:t>
            </a:r>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7E604-9DBE-ED64-4871-461587BB7A9D}"/>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D85088AA-1C46-6422-445A-52DB9C1BDD3C}"/>
              </a:ext>
            </a:extLst>
          </p:cNvPr>
          <p:cNvSpPr txBox="1"/>
          <p:nvPr/>
        </p:nvSpPr>
        <p:spPr>
          <a:xfrm>
            <a:off x="381000" y="266700"/>
            <a:ext cx="17373600" cy="8679299"/>
          </a:xfrm>
          <a:prstGeom prst="rect">
            <a:avLst/>
          </a:prstGeom>
          <a:noFill/>
        </p:spPr>
        <p:txBody>
          <a:bodyPr wrap="square" rtlCol="0">
            <a:spAutoFit/>
          </a:bodyPr>
          <a:lstStyle/>
          <a:p>
            <a:r>
              <a:rPr lang="en-US" sz="6600" dirty="0"/>
              <a:t>Exploratory Data Analysis (EDA):</a:t>
            </a:r>
          </a:p>
          <a:p>
            <a:endParaRPr lang="en-US" sz="6600" dirty="0"/>
          </a:p>
          <a:p>
            <a:r>
              <a:rPr lang="en-US" sz="6000" dirty="0"/>
              <a:t>Exploratory Data Analysis was performed to understand overall price trends, volatility, and distribution of stock prices. Visualizations helped identify upward and downward trends, sudden spikes, and periods of high volatility, providing insights into market behavior before applying forecasting models.</a:t>
            </a:r>
          </a:p>
          <a:p>
            <a:endParaRPr lang="en-IN" sz="6600" dirty="0"/>
          </a:p>
        </p:txBody>
      </p:sp>
    </p:spTree>
    <p:extLst>
      <p:ext uri="{BB962C8B-B14F-4D97-AF65-F5344CB8AC3E}">
        <p14:creationId xmlns:p14="http://schemas.microsoft.com/office/powerpoint/2010/main" val="2080193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05EF1-F6E9-0292-137A-77B5C8303C7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5C9BEDB-375C-7E75-CB39-C1B9BB658F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83591"/>
            <a:ext cx="8915427" cy="5795016"/>
          </a:xfrm>
          <a:prstGeom prst="rect">
            <a:avLst/>
          </a:prstGeom>
        </p:spPr>
      </p:pic>
      <p:sp>
        <p:nvSpPr>
          <p:cNvPr id="4" name="TextBox 3">
            <a:extLst>
              <a:ext uri="{FF2B5EF4-FFF2-40B4-BE49-F238E27FC236}">
                <a16:creationId xmlns:a16="http://schemas.microsoft.com/office/drawing/2014/main" id="{1B2183FB-BB5E-B8E6-B0F8-7064F8D9054D}"/>
              </a:ext>
            </a:extLst>
          </p:cNvPr>
          <p:cNvSpPr txBox="1"/>
          <p:nvPr/>
        </p:nvSpPr>
        <p:spPr>
          <a:xfrm>
            <a:off x="9372575" y="1638300"/>
            <a:ext cx="8622684" cy="8217634"/>
          </a:xfrm>
          <a:prstGeom prst="rect">
            <a:avLst/>
          </a:prstGeom>
          <a:noFill/>
        </p:spPr>
        <p:txBody>
          <a:bodyPr wrap="square" rtlCol="0">
            <a:spAutoFit/>
          </a:bodyPr>
          <a:lstStyle/>
          <a:p>
            <a:r>
              <a:rPr lang="en-US" sz="4800" dirty="0"/>
              <a:t>Moving averages were used to smooth short-term fluctuations and highlight long-term trends. A 7-day moving average captures short-term market movement, while a 30-day moving average represents long-term price trends. Crossovers between these averages often indicate potential bullish or bearish signals.</a:t>
            </a:r>
          </a:p>
          <a:p>
            <a:endParaRPr lang="en-IN" sz="4800" dirty="0"/>
          </a:p>
        </p:txBody>
      </p:sp>
      <p:sp>
        <p:nvSpPr>
          <p:cNvPr id="5" name="TextBox 4">
            <a:extLst>
              <a:ext uri="{FF2B5EF4-FFF2-40B4-BE49-F238E27FC236}">
                <a16:creationId xmlns:a16="http://schemas.microsoft.com/office/drawing/2014/main" id="{3B86ADDA-9BAE-E9F2-C2B9-1C1A157A6422}"/>
              </a:ext>
            </a:extLst>
          </p:cNvPr>
          <p:cNvSpPr txBox="1"/>
          <p:nvPr/>
        </p:nvSpPr>
        <p:spPr>
          <a:xfrm>
            <a:off x="5638800" y="382000"/>
            <a:ext cx="13639800" cy="1015663"/>
          </a:xfrm>
          <a:prstGeom prst="rect">
            <a:avLst/>
          </a:prstGeom>
          <a:noFill/>
        </p:spPr>
        <p:txBody>
          <a:bodyPr wrap="square" rtlCol="0">
            <a:spAutoFit/>
          </a:bodyPr>
          <a:lstStyle/>
          <a:p>
            <a:r>
              <a:rPr lang="en-US" sz="6000" dirty="0"/>
              <a:t>Moving Average Analysis:</a:t>
            </a:r>
            <a:endParaRPr lang="en-IN" sz="6000" dirty="0"/>
          </a:p>
        </p:txBody>
      </p:sp>
    </p:spTree>
    <p:extLst>
      <p:ext uri="{BB962C8B-B14F-4D97-AF65-F5344CB8AC3E}">
        <p14:creationId xmlns:p14="http://schemas.microsoft.com/office/powerpoint/2010/main" val="3277228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8BEFF-2AF6-275B-1157-9C0E59F917A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6AF8AFA-2DDD-C531-7F15-B62ABFD644DC}"/>
              </a:ext>
            </a:extLst>
          </p:cNvPr>
          <p:cNvSpPr txBox="1"/>
          <p:nvPr/>
        </p:nvSpPr>
        <p:spPr>
          <a:xfrm>
            <a:off x="5638800" y="342900"/>
            <a:ext cx="7772400" cy="830997"/>
          </a:xfrm>
          <a:prstGeom prst="rect">
            <a:avLst/>
          </a:prstGeom>
          <a:noFill/>
        </p:spPr>
        <p:txBody>
          <a:bodyPr wrap="square" rtlCol="0">
            <a:spAutoFit/>
          </a:bodyPr>
          <a:lstStyle/>
          <a:p>
            <a:r>
              <a:rPr lang="en-IN" sz="4800" dirty="0"/>
              <a:t> Volume &amp; Volatility Analysis</a:t>
            </a:r>
          </a:p>
        </p:txBody>
      </p:sp>
      <p:pic>
        <p:nvPicPr>
          <p:cNvPr id="4" name="Picture 3">
            <a:extLst>
              <a:ext uri="{FF2B5EF4-FFF2-40B4-BE49-F238E27FC236}">
                <a16:creationId xmlns:a16="http://schemas.microsoft.com/office/drawing/2014/main" id="{C06384A0-831E-20D0-E899-FD89AC2BB3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1000" y="2324100"/>
            <a:ext cx="9669406" cy="6400813"/>
          </a:xfrm>
          <a:prstGeom prst="rect">
            <a:avLst/>
          </a:prstGeom>
        </p:spPr>
      </p:pic>
      <p:sp>
        <p:nvSpPr>
          <p:cNvPr id="5" name="TextBox 4">
            <a:extLst>
              <a:ext uri="{FF2B5EF4-FFF2-40B4-BE49-F238E27FC236}">
                <a16:creationId xmlns:a16="http://schemas.microsoft.com/office/drawing/2014/main" id="{6F3D7A9F-03E6-5957-6E07-024FC1881743}"/>
              </a:ext>
            </a:extLst>
          </p:cNvPr>
          <p:cNvSpPr txBox="1"/>
          <p:nvPr/>
        </p:nvSpPr>
        <p:spPr>
          <a:xfrm>
            <a:off x="304800" y="1638300"/>
            <a:ext cx="7086600" cy="8894743"/>
          </a:xfrm>
          <a:prstGeom prst="rect">
            <a:avLst/>
          </a:prstGeom>
          <a:noFill/>
        </p:spPr>
        <p:txBody>
          <a:bodyPr wrap="square" rtlCol="0">
            <a:spAutoFit/>
          </a:bodyPr>
          <a:lstStyle/>
          <a:p>
            <a:r>
              <a:rPr lang="en-US" sz="4400" dirty="0"/>
              <a:t>Trading volume and price volatility were analyzed together to understand market activity. High volume combined with high volatility often indicates strong market reactions, whereas low volume periods suggest stable or inactive trading phases. This analysis helps in understanding risk levels in stock movements.</a:t>
            </a:r>
          </a:p>
          <a:p>
            <a:endParaRPr lang="en-IN" sz="4400" dirty="0"/>
          </a:p>
        </p:txBody>
      </p:sp>
    </p:spTree>
    <p:extLst>
      <p:ext uri="{BB962C8B-B14F-4D97-AF65-F5344CB8AC3E}">
        <p14:creationId xmlns:p14="http://schemas.microsoft.com/office/powerpoint/2010/main" val="969487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92B92-7176-2BC2-A32F-35CB0B1D982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77851A0-6CC9-2FCB-59AC-740156AF0FD0}"/>
              </a:ext>
            </a:extLst>
          </p:cNvPr>
          <p:cNvSpPr txBox="1"/>
          <p:nvPr/>
        </p:nvSpPr>
        <p:spPr>
          <a:xfrm>
            <a:off x="385011" y="1183105"/>
            <a:ext cx="8763000" cy="9848850"/>
          </a:xfrm>
          <a:prstGeom prst="rect">
            <a:avLst/>
          </a:prstGeom>
          <a:noFill/>
        </p:spPr>
        <p:txBody>
          <a:bodyPr wrap="square" rtlCol="0">
            <a:spAutoFit/>
          </a:bodyPr>
          <a:lstStyle/>
          <a:p>
            <a:endParaRPr lang="en-US" sz="4000" dirty="0"/>
          </a:p>
          <a:p>
            <a:r>
              <a:rPr lang="en-US" sz="5400" dirty="0"/>
              <a:t>Histogram and boxplot analysis were used to examine the distribution of stock prices. These plots revealed skewness, outliers, and price spread over time. Understanding distribution helps assess whether assumptions of statistical models are valid.</a:t>
            </a:r>
            <a:endParaRPr lang="en-IN" sz="5400" dirty="0"/>
          </a:p>
          <a:p>
            <a:endParaRPr lang="en-IN" sz="5400" dirty="0"/>
          </a:p>
        </p:txBody>
      </p:sp>
      <p:pic>
        <p:nvPicPr>
          <p:cNvPr id="8" name="Picture 7">
            <a:extLst>
              <a:ext uri="{FF2B5EF4-FFF2-40B4-BE49-F238E27FC236}">
                <a16:creationId xmlns:a16="http://schemas.microsoft.com/office/drawing/2014/main" id="{0B3F4AB1-039C-3FE7-E9E9-5A87BD697B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0" y="1181100"/>
            <a:ext cx="9144000" cy="4572009"/>
          </a:xfrm>
          <a:prstGeom prst="rect">
            <a:avLst/>
          </a:prstGeom>
        </p:spPr>
      </p:pic>
      <p:pic>
        <p:nvPicPr>
          <p:cNvPr id="10" name="Picture 9">
            <a:extLst>
              <a:ext uri="{FF2B5EF4-FFF2-40B4-BE49-F238E27FC236}">
                <a16:creationId xmlns:a16="http://schemas.microsoft.com/office/drawing/2014/main" id="{EB992A8F-6739-398D-E322-C321440EC2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31950" y="5714991"/>
            <a:ext cx="9144018" cy="4572009"/>
          </a:xfrm>
          <a:prstGeom prst="rect">
            <a:avLst/>
          </a:prstGeom>
        </p:spPr>
      </p:pic>
      <p:sp>
        <p:nvSpPr>
          <p:cNvPr id="11" name="TextBox 10">
            <a:extLst>
              <a:ext uri="{FF2B5EF4-FFF2-40B4-BE49-F238E27FC236}">
                <a16:creationId xmlns:a16="http://schemas.microsoft.com/office/drawing/2014/main" id="{67B80C8A-388F-4649-C638-8C2B6399E2A6}"/>
              </a:ext>
            </a:extLst>
          </p:cNvPr>
          <p:cNvSpPr txBox="1"/>
          <p:nvPr/>
        </p:nvSpPr>
        <p:spPr>
          <a:xfrm>
            <a:off x="5370095" y="168945"/>
            <a:ext cx="9906000" cy="1015663"/>
          </a:xfrm>
          <a:prstGeom prst="rect">
            <a:avLst/>
          </a:prstGeom>
          <a:noFill/>
        </p:spPr>
        <p:txBody>
          <a:bodyPr wrap="square" rtlCol="0">
            <a:spAutoFit/>
          </a:bodyPr>
          <a:lstStyle/>
          <a:p>
            <a:r>
              <a:rPr lang="en-IN" sz="6000" dirty="0"/>
              <a:t>Distribution Analysis:</a:t>
            </a:r>
          </a:p>
        </p:txBody>
      </p:sp>
    </p:spTree>
    <p:extLst>
      <p:ext uri="{BB962C8B-B14F-4D97-AF65-F5344CB8AC3E}">
        <p14:creationId xmlns:p14="http://schemas.microsoft.com/office/powerpoint/2010/main" val="3664767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9B1DD-D7C3-9DF5-37F9-061C3F1920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BA9096C-744F-248F-44BD-8B36C80B4038}"/>
              </a:ext>
            </a:extLst>
          </p:cNvPr>
          <p:cNvSpPr txBox="1"/>
          <p:nvPr/>
        </p:nvSpPr>
        <p:spPr>
          <a:xfrm>
            <a:off x="4686300" y="571500"/>
            <a:ext cx="8915400" cy="1015663"/>
          </a:xfrm>
          <a:prstGeom prst="rect">
            <a:avLst/>
          </a:prstGeom>
          <a:noFill/>
        </p:spPr>
        <p:txBody>
          <a:bodyPr wrap="square" rtlCol="0">
            <a:spAutoFit/>
          </a:bodyPr>
          <a:lstStyle/>
          <a:p>
            <a:r>
              <a:rPr lang="en-IN" sz="6000" dirty="0"/>
              <a:t> Seasonal Decomposition :</a:t>
            </a:r>
          </a:p>
        </p:txBody>
      </p:sp>
      <p:sp>
        <p:nvSpPr>
          <p:cNvPr id="4" name="TextBox 3">
            <a:extLst>
              <a:ext uri="{FF2B5EF4-FFF2-40B4-BE49-F238E27FC236}">
                <a16:creationId xmlns:a16="http://schemas.microsoft.com/office/drawing/2014/main" id="{CCC930AD-D982-E714-7FB4-7E058C2EC03F}"/>
              </a:ext>
            </a:extLst>
          </p:cNvPr>
          <p:cNvSpPr txBox="1"/>
          <p:nvPr/>
        </p:nvSpPr>
        <p:spPr>
          <a:xfrm>
            <a:off x="685800" y="1869018"/>
            <a:ext cx="8458200" cy="6740307"/>
          </a:xfrm>
          <a:prstGeom prst="rect">
            <a:avLst/>
          </a:prstGeom>
          <a:noFill/>
        </p:spPr>
        <p:txBody>
          <a:bodyPr wrap="square" rtlCol="0">
            <a:spAutoFit/>
          </a:bodyPr>
          <a:lstStyle/>
          <a:p>
            <a:r>
              <a:rPr lang="en-US" sz="4800" dirty="0"/>
              <a:t>Seasonal decomposition was applied to break the time series into trend, seasonal, and residual components. The analysis showed a dominant long-term trend, weak seasonality, and residual noise. This insight guided the selection of appropriate forecasting models.</a:t>
            </a:r>
            <a:endParaRPr lang="en-IN" sz="4800" dirty="0"/>
          </a:p>
        </p:txBody>
      </p:sp>
      <p:pic>
        <p:nvPicPr>
          <p:cNvPr id="6" name="Picture 5">
            <a:extLst>
              <a:ext uri="{FF2B5EF4-FFF2-40B4-BE49-F238E27FC236}">
                <a16:creationId xmlns:a16="http://schemas.microsoft.com/office/drawing/2014/main" id="{CB959B90-2301-B0B7-5B74-EC7497E1B0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97290" y="1869018"/>
            <a:ext cx="8608820" cy="7499135"/>
          </a:xfrm>
          <a:prstGeom prst="rect">
            <a:avLst/>
          </a:prstGeom>
        </p:spPr>
      </p:pic>
    </p:spTree>
    <p:extLst>
      <p:ext uri="{BB962C8B-B14F-4D97-AF65-F5344CB8AC3E}">
        <p14:creationId xmlns:p14="http://schemas.microsoft.com/office/powerpoint/2010/main" val="3273871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1520C-18EC-8BD6-0E55-65F418612A3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E12021E-5976-6DEA-9D82-FBD7C88C24C7}"/>
              </a:ext>
            </a:extLst>
          </p:cNvPr>
          <p:cNvSpPr txBox="1"/>
          <p:nvPr/>
        </p:nvSpPr>
        <p:spPr>
          <a:xfrm>
            <a:off x="304800" y="495300"/>
            <a:ext cx="17678400" cy="9694962"/>
          </a:xfrm>
          <a:prstGeom prst="rect">
            <a:avLst/>
          </a:prstGeom>
          <a:noFill/>
        </p:spPr>
        <p:txBody>
          <a:bodyPr wrap="square" rtlCol="0">
            <a:spAutoFit/>
          </a:bodyPr>
          <a:lstStyle/>
          <a:p>
            <a:r>
              <a:rPr lang="en-US" sz="4800" dirty="0"/>
              <a:t>Stationarity Test (ADF):</a:t>
            </a:r>
          </a:p>
          <a:p>
            <a:endParaRPr lang="en-US" sz="4800" dirty="0"/>
          </a:p>
          <a:p>
            <a:r>
              <a:rPr lang="en-US" sz="4800" dirty="0"/>
              <a:t>The Augmented Dickey-Fuller (ADF) test was used to check stationarity. The original stock price series was found to be non-stationary, indicating that statistical models like ARIMA cannot be directly applied without transformation.</a:t>
            </a:r>
          </a:p>
          <a:p>
            <a:endParaRPr lang="en-US" sz="4800" dirty="0"/>
          </a:p>
          <a:p>
            <a:r>
              <a:rPr lang="en-US" sz="4800" dirty="0"/>
              <a:t>Differencing for Stationarity:</a:t>
            </a:r>
          </a:p>
          <a:p>
            <a:endParaRPr lang="en-US" sz="4800" dirty="0"/>
          </a:p>
          <a:p>
            <a:r>
              <a:rPr lang="en-US" sz="4800" dirty="0"/>
              <a:t>To make the series stationary, first-order differencing was applied. After differencing, the ADF test confirmed stationarity. This step is essential for time-series models to produce meaningful forecasts.</a:t>
            </a:r>
          </a:p>
          <a:p>
            <a:endParaRPr lang="en-IN" sz="4800" dirty="0"/>
          </a:p>
        </p:txBody>
      </p:sp>
    </p:spTree>
    <p:extLst>
      <p:ext uri="{BB962C8B-B14F-4D97-AF65-F5344CB8AC3E}">
        <p14:creationId xmlns:p14="http://schemas.microsoft.com/office/powerpoint/2010/main" val="1074550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9E851-2B7D-1144-9096-207121CE5D5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3A3D6B0-537A-EDF1-C2CB-B2FA1F2A004B}"/>
              </a:ext>
            </a:extLst>
          </p:cNvPr>
          <p:cNvSpPr txBox="1"/>
          <p:nvPr/>
        </p:nvSpPr>
        <p:spPr>
          <a:xfrm>
            <a:off x="10591800" y="952500"/>
            <a:ext cx="6705600" cy="8217634"/>
          </a:xfrm>
          <a:prstGeom prst="rect">
            <a:avLst/>
          </a:prstGeom>
          <a:noFill/>
        </p:spPr>
        <p:txBody>
          <a:bodyPr wrap="square" rtlCol="0">
            <a:spAutoFit/>
          </a:bodyPr>
          <a:lstStyle/>
          <a:p>
            <a:endParaRPr lang="en-US" sz="4800" dirty="0"/>
          </a:p>
          <a:p>
            <a:r>
              <a:rPr lang="en-US" sz="4800" dirty="0"/>
              <a:t>Autocorrelation Function (ACF) and Partial Autocorrelation Function (PACF) plots were used to identify appropriate AR and MA parameters. These plots help in selecting the optimal order for ARIMA and SARIMA models.</a:t>
            </a:r>
            <a:endParaRPr lang="en-IN" sz="4800" dirty="0"/>
          </a:p>
        </p:txBody>
      </p:sp>
      <p:sp>
        <p:nvSpPr>
          <p:cNvPr id="3" name="TextBox 2">
            <a:extLst>
              <a:ext uri="{FF2B5EF4-FFF2-40B4-BE49-F238E27FC236}">
                <a16:creationId xmlns:a16="http://schemas.microsoft.com/office/drawing/2014/main" id="{CD80B0F3-1A7B-A1B2-145F-5BBEBBDF8357}"/>
              </a:ext>
            </a:extLst>
          </p:cNvPr>
          <p:cNvSpPr txBox="1"/>
          <p:nvPr/>
        </p:nvSpPr>
        <p:spPr>
          <a:xfrm>
            <a:off x="5181600" y="446077"/>
            <a:ext cx="7924800" cy="923330"/>
          </a:xfrm>
          <a:prstGeom prst="rect">
            <a:avLst/>
          </a:prstGeom>
          <a:noFill/>
        </p:spPr>
        <p:txBody>
          <a:bodyPr wrap="square" rtlCol="0">
            <a:spAutoFit/>
          </a:bodyPr>
          <a:lstStyle/>
          <a:p>
            <a:r>
              <a:rPr lang="en-IN" sz="5400" dirty="0"/>
              <a:t>ACF and PACF Analysis</a:t>
            </a:r>
          </a:p>
        </p:txBody>
      </p:sp>
      <p:pic>
        <p:nvPicPr>
          <p:cNvPr id="7" name="Picture 6" descr="A graph with blue dots&#10;&#10;AI-generated content may be incorrect.">
            <a:extLst>
              <a:ext uri="{FF2B5EF4-FFF2-40B4-BE49-F238E27FC236}">
                <a16:creationId xmlns:a16="http://schemas.microsoft.com/office/drawing/2014/main" id="{6A147B65-4321-959E-87EB-19B950CBD44B}"/>
              </a:ext>
            </a:extLst>
          </p:cNvPr>
          <p:cNvPicPr>
            <a:picLocks noChangeAspect="1"/>
          </p:cNvPicPr>
          <p:nvPr/>
        </p:nvPicPr>
        <p:blipFill>
          <a:blip r:embed="rId2"/>
          <a:stretch>
            <a:fillRect/>
          </a:stretch>
        </p:blipFill>
        <p:spPr>
          <a:xfrm>
            <a:off x="685800" y="1369407"/>
            <a:ext cx="8534400" cy="4410075"/>
          </a:xfrm>
          <a:prstGeom prst="rect">
            <a:avLst/>
          </a:prstGeom>
        </p:spPr>
      </p:pic>
      <p:pic>
        <p:nvPicPr>
          <p:cNvPr id="9" name="Picture 8" descr="A graph of a function&#10;&#10;AI-generated content may be incorrect.">
            <a:extLst>
              <a:ext uri="{FF2B5EF4-FFF2-40B4-BE49-F238E27FC236}">
                <a16:creationId xmlns:a16="http://schemas.microsoft.com/office/drawing/2014/main" id="{0D81C675-B4D6-ABB6-8691-ECA07E5C5E4A}"/>
              </a:ext>
            </a:extLst>
          </p:cNvPr>
          <p:cNvPicPr>
            <a:picLocks noChangeAspect="1"/>
          </p:cNvPicPr>
          <p:nvPr/>
        </p:nvPicPr>
        <p:blipFill>
          <a:blip r:embed="rId3"/>
          <a:stretch>
            <a:fillRect/>
          </a:stretch>
        </p:blipFill>
        <p:spPr>
          <a:xfrm>
            <a:off x="685800" y="5779482"/>
            <a:ext cx="8534400" cy="4410075"/>
          </a:xfrm>
          <a:prstGeom prst="rect">
            <a:avLst/>
          </a:prstGeom>
        </p:spPr>
      </p:pic>
    </p:spTree>
    <p:extLst>
      <p:ext uri="{BB962C8B-B14F-4D97-AF65-F5344CB8AC3E}">
        <p14:creationId xmlns:p14="http://schemas.microsoft.com/office/powerpoint/2010/main" val="737904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68E68-B0BC-A889-9842-B25203039C7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3A5532E-3B09-A410-EA9C-D641A1B6070A}"/>
              </a:ext>
            </a:extLst>
          </p:cNvPr>
          <p:cNvSpPr txBox="1"/>
          <p:nvPr/>
        </p:nvSpPr>
        <p:spPr>
          <a:xfrm>
            <a:off x="6781800" y="419100"/>
            <a:ext cx="12115800" cy="1107996"/>
          </a:xfrm>
          <a:prstGeom prst="rect">
            <a:avLst/>
          </a:prstGeom>
          <a:noFill/>
        </p:spPr>
        <p:txBody>
          <a:bodyPr wrap="square" rtlCol="0">
            <a:spAutoFit/>
          </a:bodyPr>
          <a:lstStyle/>
          <a:p>
            <a:r>
              <a:rPr lang="en-IN" sz="6600" dirty="0"/>
              <a:t>Train-Test -Split</a:t>
            </a:r>
          </a:p>
        </p:txBody>
      </p:sp>
      <p:sp>
        <p:nvSpPr>
          <p:cNvPr id="3" name="TextBox 2">
            <a:extLst>
              <a:ext uri="{FF2B5EF4-FFF2-40B4-BE49-F238E27FC236}">
                <a16:creationId xmlns:a16="http://schemas.microsoft.com/office/drawing/2014/main" id="{3847A4F8-1C35-7E41-EAE2-15AA74C33C34}"/>
              </a:ext>
            </a:extLst>
          </p:cNvPr>
          <p:cNvSpPr txBox="1"/>
          <p:nvPr/>
        </p:nvSpPr>
        <p:spPr>
          <a:xfrm>
            <a:off x="541399" y="1527096"/>
            <a:ext cx="5334000" cy="7478970"/>
          </a:xfrm>
          <a:prstGeom prst="rect">
            <a:avLst/>
          </a:prstGeom>
          <a:noFill/>
        </p:spPr>
        <p:txBody>
          <a:bodyPr wrap="square" rtlCol="0">
            <a:spAutoFit/>
          </a:bodyPr>
          <a:lstStyle/>
          <a:p>
            <a:endParaRPr lang="en-US" sz="4000" dirty="0"/>
          </a:p>
          <a:p>
            <a:r>
              <a:rPr lang="en-US" sz="4000" dirty="0"/>
              <a:t>The dataset was divided into training and testing sets using an 80-20 time-based split. Shuffling was avoided to preserve the temporal sequence. The training set was used to build models, while the test set was used for performance evaluation.</a:t>
            </a:r>
            <a:endParaRPr lang="en-IN" sz="4000" dirty="0"/>
          </a:p>
        </p:txBody>
      </p:sp>
      <p:pic>
        <p:nvPicPr>
          <p:cNvPr id="5" name="Picture 4">
            <a:extLst>
              <a:ext uri="{FF2B5EF4-FFF2-40B4-BE49-F238E27FC236}">
                <a16:creationId xmlns:a16="http://schemas.microsoft.com/office/drawing/2014/main" id="{1874F1FE-BAA5-B736-8526-75E043B55B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3832" y="3314700"/>
            <a:ext cx="10972822" cy="4572009"/>
          </a:xfrm>
          <a:prstGeom prst="rect">
            <a:avLst/>
          </a:prstGeom>
        </p:spPr>
      </p:pic>
    </p:spTree>
    <p:extLst>
      <p:ext uri="{BB962C8B-B14F-4D97-AF65-F5344CB8AC3E}">
        <p14:creationId xmlns:p14="http://schemas.microsoft.com/office/powerpoint/2010/main" val="2786681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09187-6E67-8BEB-68FF-24227C79BFB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3F7308F-371B-CBBA-3530-A9022C1A4ED1}"/>
              </a:ext>
            </a:extLst>
          </p:cNvPr>
          <p:cNvSpPr txBox="1"/>
          <p:nvPr/>
        </p:nvSpPr>
        <p:spPr>
          <a:xfrm>
            <a:off x="5943600" y="517083"/>
            <a:ext cx="11963400" cy="1107996"/>
          </a:xfrm>
          <a:prstGeom prst="rect">
            <a:avLst/>
          </a:prstGeom>
          <a:noFill/>
        </p:spPr>
        <p:txBody>
          <a:bodyPr wrap="square" rtlCol="0">
            <a:spAutoFit/>
          </a:bodyPr>
          <a:lstStyle/>
          <a:p>
            <a:r>
              <a:rPr lang="en-IN" sz="6600" dirty="0"/>
              <a:t>ARIMA Model :</a:t>
            </a:r>
          </a:p>
        </p:txBody>
      </p:sp>
      <p:sp>
        <p:nvSpPr>
          <p:cNvPr id="3" name="TextBox 2">
            <a:extLst>
              <a:ext uri="{FF2B5EF4-FFF2-40B4-BE49-F238E27FC236}">
                <a16:creationId xmlns:a16="http://schemas.microsoft.com/office/drawing/2014/main" id="{9A7A74E7-35FA-75AE-A346-8BCA52AC359D}"/>
              </a:ext>
            </a:extLst>
          </p:cNvPr>
          <p:cNvSpPr txBox="1"/>
          <p:nvPr/>
        </p:nvSpPr>
        <p:spPr>
          <a:xfrm>
            <a:off x="232611" y="1831896"/>
            <a:ext cx="6629400" cy="8217634"/>
          </a:xfrm>
          <a:prstGeom prst="rect">
            <a:avLst/>
          </a:prstGeom>
          <a:noFill/>
        </p:spPr>
        <p:txBody>
          <a:bodyPr wrap="square" rtlCol="0">
            <a:spAutoFit/>
          </a:bodyPr>
          <a:lstStyle/>
          <a:p>
            <a:r>
              <a:rPr lang="en-US" sz="4800" dirty="0"/>
              <a:t>ARIMA is a classical statistical forecasting model that combines autoregression, differencing, and moving average components. It is effective for linear time-series data but struggles with complex nonlinear patterns commonly seen in stock prices.</a:t>
            </a:r>
            <a:endParaRPr lang="en-IN" sz="4800" dirty="0"/>
          </a:p>
        </p:txBody>
      </p:sp>
      <p:pic>
        <p:nvPicPr>
          <p:cNvPr id="5" name="Picture 4">
            <a:extLst>
              <a:ext uri="{FF2B5EF4-FFF2-40B4-BE49-F238E27FC236}">
                <a16:creationId xmlns:a16="http://schemas.microsoft.com/office/drawing/2014/main" id="{8E858356-B9E1-C261-0C18-9286A92C47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0535" y="3314700"/>
            <a:ext cx="10972822" cy="4419611"/>
          </a:xfrm>
          <a:prstGeom prst="rect">
            <a:avLst/>
          </a:prstGeom>
        </p:spPr>
      </p:pic>
    </p:spTree>
    <p:extLst>
      <p:ext uri="{BB962C8B-B14F-4D97-AF65-F5344CB8AC3E}">
        <p14:creationId xmlns:p14="http://schemas.microsoft.com/office/powerpoint/2010/main" val="1134575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F5F7F-C414-64D4-4E27-3406CE21802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DA60485-F9A5-1D2A-472F-07D7BCB41201}"/>
              </a:ext>
            </a:extLst>
          </p:cNvPr>
          <p:cNvSpPr txBox="1"/>
          <p:nvPr/>
        </p:nvSpPr>
        <p:spPr>
          <a:xfrm>
            <a:off x="5943600" y="266700"/>
            <a:ext cx="7162800" cy="1015663"/>
          </a:xfrm>
          <a:prstGeom prst="rect">
            <a:avLst/>
          </a:prstGeom>
          <a:noFill/>
        </p:spPr>
        <p:txBody>
          <a:bodyPr wrap="square" rtlCol="0">
            <a:spAutoFit/>
          </a:bodyPr>
          <a:lstStyle/>
          <a:p>
            <a:r>
              <a:rPr lang="en-IN" sz="6000" dirty="0"/>
              <a:t> SARIMA Model :</a:t>
            </a:r>
          </a:p>
        </p:txBody>
      </p:sp>
      <p:sp>
        <p:nvSpPr>
          <p:cNvPr id="3" name="TextBox 2">
            <a:extLst>
              <a:ext uri="{FF2B5EF4-FFF2-40B4-BE49-F238E27FC236}">
                <a16:creationId xmlns:a16="http://schemas.microsoft.com/office/drawing/2014/main" id="{38015ACA-3BC6-A8B6-0EEC-61200488FD3D}"/>
              </a:ext>
            </a:extLst>
          </p:cNvPr>
          <p:cNvSpPr txBox="1"/>
          <p:nvPr/>
        </p:nvSpPr>
        <p:spPr>
          <a:xfrm>
            <a:off x="156411" y="2374731"/>
            <a:ext cx="7158767" cy="6740307"/>
          </a:xfrm>
          <a:prstGeom prst="rect">
            <a:avLst/>
          </a:prstGeom>
          <a:noFill/>
        </p:spPr>
        <p:txBody>
          <a:bodyPr wrap="square" rtlCol="0">
            <a:spAutoFit/>
          </a:bodyPr>
          <a:lstStyle/>
          <a:p>
            <a:r>
              <a:rPr lang="en-US" sz="4800" dirty="0"/>
              <a:t>SARIMA extends ARIMA by incorporating seasonality. It accounts for repeating patterns in time series data. Although SARIMA improved results slightly compared to ARIMA, it still showed limitations in capturing sudden price fluctuations.</a:t>
            </a:r>
            <a:endParaRPr lang="en-IN" sz="4800" dirty="0"/>
          </a:p>
        </p:txBody>
      </p:sp>
      <p:pic>
        <p:nvPicPr>
          <p:cNvPr id="5" name="Picture 4">
            <a:extLst>
              <a:ext uri="{FF2B5EF4-FFF2-40B4-BE49-F238E27FC236}">
                <a16:creationId xmlns:a16="http://schemas.microsoft.com/office/drawing/2014/main" id="{69597615-78E4-0750-1969-67184EC62F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0789" y="3001678"/>
            <a:ext cx="10210800" cy="5486411"/>
          </a:xfrm>
          <a:prstGeom prst="rect">
            <a:avLst/>
          </a:prstGeom>
        </p:spPr>
      </p:pic>
    </p:spTree>
    <p:extLst>
      <p:ext uri="{BB962C8B-B14F-4D97-AF65-F5344CB8AC3E}">
        <p14:creationId xmlns:p14="http://schemas.microsoft.com/office/powerpoint/2010/main" val="1046251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BD5A6-97B5-B856-9E09-9110530F29C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691849B-6E5D-5ABA-3C11-5C116F72EA38}"/>
              </a:ext>
            </a:extLst>
          </p:cNvPr>
          <p:cNvSpPr txBox="1"/>
          <p:nvPr/>
        </p:nvSpPr>
        <p:spPr>
          <a:xfrm>
            <a:off x="4648200" y="800100"/>
            <a:ext cx="9372600" cy="1200329"/>
          </a:xfrm>
          <a:prstGeom prst="rect">
            <a:avLst/>
          </a:prstGeom>
          <a:noFill/>
        </p:spPr>
        <p:txBody>
          <a:bodyPr wrap="square" rtlCol="0">
            <a:spAutoFit/>
          </a:bodyPr>
          <a:lstStyle/>
          <a:p>
            <a:r>
              <a:rPr lang="en-IN" sz="7200" dirty="0"/>
              <a:t>Random Forest Model :</a:t>
            </a:r>
          </a:p>
        </p:txBody>
      </p:sp>
      <p:sp>
        <p:nvSpPr>
          <p:cNvPr id="3" name="TextBox 2">
            <a:extLst>
              <a:ext uri="{FF2B5EF4-FFF2-40B4-BE49-F238E27FC236}">
                <a16:creationId xmlns:a16="http://schemas.microsoft.com/office/drawing/2014/main" id="{54C8D089-60A6-2651-8114-A130A4881287}"/>
              </a:ext>
            </a:extLst>
          </p:cNvPr>
          <p:cNvSpPr txBox="1"/>
          <p:nvPr/>
        </p:nvSpPr>
        <p:spPr>
          <a:xfrm>
            <a:off x="228600" y="2552698"/>
            <a:ext cx="9753600" cy="6740307"/>
          </a:xfrm>
          <a:prstGeom prst="rect">
            <a:avLst/>
          </a:prstGeom>
          <a:noFill/>
        </p:spPr>
        <p:txBody>
          <a:bodyPr wrap="square" rtlCol="0">
            <a:spAutoFit/>
          </a:bodyPr>
          <a:lstStyle/>
          <a:p>
            <a:r>
              <a:rPr lang="en-US" sz="4800" dirty="0"/>
              <a:t>Random Forest is an ensemble machine learning algorithm that uses multiple decision trees. It captures nonlinear relationships and interactions between features. However, it relies heavily on feature engineering and cannot naturally model long-term sequential dependencies.</a:t>
            </a:r>
            <a:endParaRPr lang="en-IN" sz="4800" dirty="0"/>
          </a:p>
        </p:txBody>
      </p:sp>
      <p:pic>
        <p:nvPicPr>
          <p:cNvPr id="7" name="Picture 6" descr="A graph showing a line graph">
            <a:extLst>
              <a:ext uri="{FF2B5EF4-FFF2-40B4-BE49-F238E27FC236}">
                <a16:creationId xmlns:a16="http://schemas.microsoft.com/office/drawing/2014/main" id="{56FEA326-7752-E760-1FC7-758D5C00B0B0}"/>
              </a:ext>
            </a:extLst>
          </p:cNvPr>
          <p:cNvPicPr>
            <a:picLocks noChangeAspect="1"/>
          </p:cNvPicPr>
          <p:nvPr/>
        </p:nvPicPr>
        <p:blipFill>
          <a:blip r:embed="rId2"/>
          <a:stretch>
            <a:fillRect/>
          </a:stretch>
        </p:blipFill>
        <p:spPr>
          <a:xfrm>
            <a:off x="10101262" y="3274901"/>
            <a:ext cx="7839075" cy="5295900"/>
          </a:xfrm>
          <a:prstGeom prst="rect">
            <a:avLst/>
          </a:prstGeom>
        </p:spPr>
      </p:pic>
    </p:spTree>
    <p:extLst>
      <p:ext uri="{BB962C8B-B14F-4D97-AF65-F5344CB8AC3E}">
        <p14:creationId xmlns:p14="http://schemas.microsoft.com/office/powerpoint/2010/main" val="42768512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6C068-775E-D839-422C-4A805F6CF95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5BF4CC0-F35E-5894-5A7B-51E27CB12DDF}"/>
              </a:ext>
            </a:extLst>
          </p:cNvPr>
          <p:cNvSpPr txBox="1"/>
          <p:nvPr/>
        </p:nvSpPr>
        <p:spPr>
          <a:xfrm>
            <a:off x="5029200" y="571500"/>
            <a:ext cx="8534400" cy="3416320"/>
          </a:xfrm>
          <a:prstGeom prst="rect">
            <a:avLst/>
          </a:prstGeom>
          <a:noFill/>
        </p:spPr>
        <p:txBody>
          <a:bodyPr wrap="square" rtlCol="0">
            <a:spAutoFit/>
          </a:bodyPr>
          <a:lstStyle/>
          <a:p>
            <a:r>
              <a:rPr lang="en-IN" sz="7200" dirty="0"/>
              <a:t> </a:t>
            </a:r>
            <a:r>
              <a:rPr lang="en-IN" sz="7200" dirty="0" err="1"/>
              <a:t>XGBoost</a:t>
            </a:r>
            <a:r>
              <a:rPr lang="en-IN" sz="7200" dirty="0"/>
              <a:t> Model :</a:t>
            </a:r>
          </a:p>
          <a:p>
            <a:endParaRPr lang="en-IN" sz="7200" dirty="0"/>
          </a:p>
          <a:p>
            <a:endParaRPr lang="en-IN" sz="7200" dirty="0"/>
          </a:p>
        </p:txBody>
      </p:sp>
      <p:pic>
        <p:nvPicPr>
          <p:cNvPr id="6" name="Picture 5" descr="A graph showing the growth of the stock market&#10;&#10;AI-generated content may be incorrect.">
            <a:extLst>
              <a:ext uri="{FF2B5EF4-FFF2-40B4-BE49-F238E27FC236}">
                <a16:creationId xmlns:a16="http://schemas.microsoft.com/office/drawing/2014/main" id="{CB580C95-987B-CB72-8BF9-47F80814D77F}"/>
              </a:ext>
            </a:extLst>
          </p:cNvPr>
          <p:cNvPicPr>
            <a:picLocks noChangeAspect="1"/>
          </p:cNvPicPr>
          <p:nvPr/>
        </p:nvPicPr>
        <p:blipFill>
          <a:blip r:embed="rId2"/>
          <a:stretch>
            <a:fillRect/>
          </a:stretch>
        </p:blipFill>
        <p:spPr>
          <a:xfrm>
            <a:off x="9829800" y="2705100"/>
            <a:ext cx="8143875" cy="5295900"/>
          </a:xfrm>
          <a:prstGeom prst="rect">
            <a:avLst/>
          </a:prstGeom>
        </p:spPr>
      </p:pic>
      <p:sp>
        <p:nvSpPr>
          <p:cNvPr id="8" name="TextBox 7">
            <a:extLst>
              <a:ext uri="{FF2B5EF4-FFF2-40B4-BE49-F238E27FC236}">
                <a16:creationId xmlns:a16="http://schemas.microsoft.com/office/drawing/2014/main" id="{BC1866CB-25F4-33FE-AECB-7C98F9EDC08C}"/>
              </a:ext>
            </a:extLst>
          </p:cNvPr>
          <p:cNvSpPr txBox="1"/>
          <p:nvPr/>
        </p:nvSpPr>
        <p:spPr>
          <a:xfrm>
            <a:off x="304800" y="1485900"/>
            <a:ext cx="9220200" cy="7571303"/>
          </a:xfrm>
          <a:prstGeom prst="rect">
            <a:avLst/>
          </a:prstGeom>
          <a:noFill/>
        </p:spPr>
        <p:txBody>
          <a:bodyPr wrap="square" rtlCol="0">
            <a:spAutoFit/>
          </a:bodyPr>
          <a:lstStyle/>
          <a:p>
            <a:endParaRPr lang="en-US" sz="5400" dirty="0"/>
          </a:p>
          <a:p>
            <a:r>
              <a:rPr lang="en-US" sz="5400" dirty="0" err="1"/>
              <a:t>XGBoost</a:t>
            </a:r>
            <a:r>
              <a:rPr lang="en-US" sz="5400" dirty="0"/>
              <a:t> is a powerful gradient boosting algorithm known for high predictive accuracy. It outperformed Random Forest in this project due to better handling of complex feature interactions, but it still lacks direct temporal memory.</a:t>
            </a:r>
            <a:endParaRPr lang="en-IN" sz="5400" dirty="0"/>
          </a:p>
        </p:txBody>
      </p:sp>
    </p:spTree>
    <p:extLst>
      <p:ext uri="{BB962C8B-B14F-4D97-AF65-F5344CB8AC3E}">
        <p14:creationId xmlns:p14="http://schemas.microsoft.com/office/powerpoint/2010/main" val="2856758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0C6EA-FCB6-8DC2-262C-84071DD1B54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8389EF4-9D3B-95B9-4063-74F73A450966}"/>
              </a:ext>
            </a:extLst>
          </p:cNvPr>
          <p:cNvSpPr txBox="1"/>
          <p:nvPr/>
        </p:nvSpPr>
        <p:spPr>
          <a:xfrm>
            <a:off x="6705600" y="495300"/>
            <a:ext cx="8534400" cy="3416320"/>
          </a:xfrm>
          <a:prstGeom prst="rect">
            <a:avLst/>
          </a:prstGeom>
          <a:noFill/>
        </p:spPr>
        <p:txBody>
          <a:bodyPr wrap="square" rtlCol="0">
            <a:spAutoFit/>
          </a:bodyPr>
          <a:lstStyle/>
          <a:p>
            <a:r>
              <a:rPr lang="en-IN" sz="7200" dirty="0"/>
              <a:t>LSTM Model :</a:t>
            </a:r>
          </a:p>
          <a:p>
            <a:endParaRPr lang="en-IN" sz="7200" dirty="0"/>
          </a:p>
          <a:p>
            <a:endParaRPr lang="en-IN" sz="7200" dirty="0"/>
          </a:p>
        </p:txBody>
      </p:sp>
      <p:sp>
        <p:nvSpPr>
          <p:cNvPr id="8" name="TextBox 7">
            <a:extLst>
              <a:ext uri="{FF2B5EF4-FFF2-40B4-BE49-F238E27FC236}">
                <a16:creationId xmlns:a16="http://schemas.microsoft.com/office/drawing/2014/main" id="{DD1AA41F-520A-45A9-6055-B767C755749D}"/>
              </a:ext>
            </a:extLst>
          </p:cNvPr>
          <p:cNvSpPr txBox="1"/>
          <p:nvPr/>
        </p:nvSpPr>
        <p:spPr>
          <a:xfrm>
            <a:off x="304800" y="1485900"/>
            <a:ext cx="9220200" cy="923330"/>
          </a:xfrm>
          <a:prstGeom prst="rect">
            <a:avLst/>
          </a:prstGeom>
          <a:noFill/>
        </p:spPr>
        <p:txBody>
          <a:bodyPr wrap="square" rtlCol="0">
            <a:spAutoFit/>
          </a:bodyPr>
          <a:lstStyle/>
          <a:p>
            <a:endParaRPr lang="en-IN" sz="5400" dirty="0"/>
          </a:p>
        </p:txBody>
      </p:sp>
      <p:sp>
        <p:nvSpPr>
          <p:cNvPr id="2" name="TextBox 1">
            <a:extLst>
              <a:ext uri="{FF2B5EF4-FFF2-40B4-BE49-F238E27FC236}">
                <a16:creationId xmlns:a16="http://schemas.microsoft.com/office/drawing/2014/main" id="{723B8766-4AAA-93B0-4FF0-2DD91ABC99DC}"/>
              </a:ext>
            </a:extLst>
          </p:cNvPr>
          <p:cNvSpPr txBox="1"/>
          <p:nvPr/>
        </p:nvSpPr>
        <p:spPr>
          <a:xfrm>
            <a:off x="304800" y="2870895"/>
            <a:ext cx="9906000" cy="6740307"/>
          </a:xfrm>
          <a:prstGeom prst="rect">
            <a:avLst/>
          </a:prstGeom>
          <a:noFill/>
        </p:spPr>
        <p:txBody>
          <a:bodyPr wrap="square" rtlCol="0">
            <a:spAutoFit/>
          </a:bodyPr>
          <a:lstStyle/>
          <a:p>
            <a:r>
              <a:rPr lang="en-US" sz="5400" dirty="0"/>
              <a:t>Long Short-Term Memory (LSTM) is a deep learning model designed specifically for sequential data. It can learn long-term dependencies and temporal patterns, making it highly suitable for stock price forecasting where historical context is important.</a:t>
            </a:r>
            <a:endParaRPr lang="en-IN" sz="5400" dirty="0"/>
          </a:p>
        </p:txBody>
      </p:sp>
      <p:pic>
        <p:nvPicPr>
          <p:cNvPr id="5" name="Picture 4" descr="A graph showing the growth of the stock market&#10;&#10;AI-generated content may be incorrect.">
            <a:extLst>
              <a:ext uri="{FF2B5EF4-FFF2-40B4-BE49-F238E27FC236}">
                <a16:creationId xmlns:a16="http://schemas.microsoft.com/office/drawing/2014/main" id="{4EF22A0C-7808-C8E6-C843-831F19D45719}"/>
              </a:ext>
            </a:extLst>
          </p:cNvPr>
          <p:cNvPicPr>
            <a:picLocks noChangeAspect="1"/>
          </p:cNvPicPr>
          <p:nvPr/>
        </p:nvPicPr>
        <p:blipFill>
          <a:blip r:embed="rId2"/>
          <a:stretch>
            <a:fillRect/>
          </a:stretch>
        </p:blipFill>
        <p:spPr>
          <a:xfrm>
            <a:off x="9982200" y="3086100"/>
            <a:ext cx="8157411" cy="5295900"/>
          </a:xfrm>
          <a:prstGeom prst="rect">
            <a:avLst/>
          </a:prstGeom>
        </p:spPr>
      </p:pic>
    </p:spTree>
    <p:extLst>
      <p:ext uri="{BB962C8B-B14F-4D97-AF65-F5344CB8AC3E}">
        <p14:creationId xmlns:p14="http://schemas.microsoft.com/office/powerpoint/2010/main" val="15201948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62A3E-D3FB-DBBC-7D60-1E918549971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633CB5E-A663-F392-C0E0-9ABDF5D003D1}"/>
              </a:ext>
            </a:extLst>
          </p:cNvPr>
          <p:cNvSpPr txBox="1"/>
          <p:nvPr/>
        </p:nvSpPr>
        <p:spPr>
          <a:xfrm>
            <a:off x="4038600" y="1704201"/>
            <a:ext cx="11811000" cy="1200329"/>
          </a:xfrm>
          <a:prstGeom prst="rect">
            <a:avLst/>
          </a:prstGeom>
          <a:noFill/>
        </p:spPr>
        <p:txBody>
          <a:bodyPr wrap="square" rtlCol="0">
            <a:spAutoFit/>
          </a:bodyPr>
          <a:lstStyle/>
          <a:p>
            <a:r>
              <a:rPr lang="en-IN" sz="7200" dirty="0"/>
              <a:t>Model Evaluation Metrics :</a:t>
            </a:r>
          </a:p>
        </p:txBody>
      </p:sp>
      <p:sp>
        <p:nvSpPr>
          <p:cNvPr id="8" name="TextBox 7">
            <a:extLst>
              <a:ext uri="{FF2B5EF4-FFF2-40B4-BE49-F238E27FC236}">
                <a16:creationId xmlns:a16="http://schemas.microsoft.com/office/drawing/2014/main" id="{33A9B8C6-EEDE-E61F-5375-0DF33B9C94BF}"/>
              </a:ext>
            </a:extLst>
          </p:cNvPr>
          <p:cNvSpPr txBox="1"/>
          <p:nvPr/>
        </p:nvSpPr>
        <p:spPr>
          <a:xfrm>
            <a:off x="304800" y="1485900"/>
            <a:ext cx="9220200" cy="923330"/>
          </a:xfrm>
          <a:prstGeom prst="rect">
            <a:avLst/>
          </a:prstGeom>
          <a:noFill/>
        </p:spPr>
        <p:txBody>
          <a:bodyPr wrap="square" rtlCol="0">
            <a:spAutoFit/>
          </a:bodyPr>
          <a:lstStyle/>
          <a:p>
            <a:endParaRPr lang="en-IN" sz="5400" dirty="0"/>
          </a:p>
        </p:txBody>
      </p:sp>
      <p:sp>
        <p:nvSpPr>
          <p:cNvPr id="2" name="TextBox 1">
            <a:extLst>
              <a:ext uri="{FF2B5EF4-FFF2-40B4-BE49-F238E27FC236}">
                <a16:creationId xmlns:a16="http://schemas.microsoft.com/office/drawing/2014/main" id="{78275065-D066-3D36-69C6-9FB3022B2A60}"/>
              </a:ext>
            </a:extLst>
          </p:cNvPr>
          <p:cNvSpPr txBox="1"/>
          <p:nvPr/>
        </p:nvSpPr>
        <p:spPr>
          <a:xfrm>
            <a:off x="381000" y="3399830"/>
            <a:ext cx="18288000" cy="4247317"/>
          </a:xfrm>
          <a:prstGeom prst="rect">
            <a:avLst/>
          </a:prstGeom>
          <a:noFill/>
        </p:spPr>
        <p:txBody>
          <a:bodyPr wrap="square" rtlCol="0">
            <a:spAutoFit/>
          </a:bodyPr>
          <a:lstStyle/>
          <a:p>
            <a:r>
              <a:rPr lang="en-US" sz="5400" dirty="0"/>
              <a:t>Model performance was evaluated using Root Mean Squared Error (RMSE) and Mean Absolute Percentage Error (MAPE). These metrics quantify prediction accuracy and allow fair comparison across all models.</a:t>
            </a:r>
          </a:p>
          <a:p>
            <a:endParaRPr lang="en-IN" sz="5400" dirty="0"/>
          </a:p>
        </p:txBody>
      </p:sp>
    </p:spTree>
    <p:extLst>
      <p:ext uri="{BB962C8B-B14F-4D97-AF65-F5344CB8AC3E}">
        <p14:creationId xmlns:p14="http://schemas.microsoft.com/office/powerpoint/2010/main" val="3419100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FA45E-12A1-5000-4BFF-201359EF2AC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ABA828C-7AED-EA42-661E-B2802FB839BB}"/>
              </a:ext>
            </a:extLst>
          </p:cNvPr>
          <p:cNvSpPr txBox="1"/>
          <p:nvPr/>
        </p:nvSpPr>
        <p:spPr>
          <a:xfrm>
            <a:off x="3809999" y="1190854"/>
            <a:ext cx="11811000" cy="1200329"/>
          </a:xfrm>
          <a:prstGeom prst="rect">
            <a:avLst/>
          </a:prstGeom>
          <a:noFill/>
        </p:spPr>
        <p:txBody>
          <a:bodyPr wrap="square" rtlCol="0">
            <a:spAutoFit/>
          </a:bodyPr>
          <a:lstStyle/>
          <a:p>
            <a:r>
              <a:rPr lang="en-IN" sz="7200" dirty="0"/>
              <a:t>Model Comparison &amp; Ranking:</a:t>
            </a:r>
          </a:p>
        </p:txBody>
      </p:sp>
      <p:sp>
        <p:nvSpPr>
          <p:cNvPr id="8" name="TextBox 7">
            <a:extLst>
              <a:ext uri="{FF2B5EF4-FFF2-40B4-BE49-F238E27FC236}">
                <a16:creationId xmlns:a16="http://schemas.microsoft.com/office/drawing/2014/main" id="{4CD87955-218E-086A-A9AD-0F8640C2FF88}"/>
              </a:ext>
            </a:extLst>
          </p:cNvPr>
          <p:cNvSpPr txBox="1"/>
          <p:nvPr/>
        </p:nvSpPr>
        <p:spPr>
          <a:xfrm>
            <a:off x="304800" y="1485900"/>
            <a:ext cx="9220200" cy="923330"/>
          </a:xfrm>
          <a:prstGeom prst="rect">
            <a:avLst/>
          </a:prstGeom>
          <a:noFill/>
        </p:spPr>
        <p:txBody>
          <a:bodyPr wrap="square" rtlCol="0">
            <a:spAutoFit/>
          </a:bodyPr>
          <a:lstStyle/>
          <a:p>
            <a:endParaRPr lang="en-IN" sz="5400" dirty="0"/>
          </a:p>
        </p:txBody>
      </p:sp>
      <p:sp>
        <p:nvSpPr>
          <p:cNvPr id="2" name="TextBox 1">
            <a:extLst>
              <a:ext uri="{FF2B5EF4-FFF2-40B4-BE49-F238E27FC236}">
                <a16:creationId xmlns:a16="http://schemas.microsoft.com/office/drawing/2014/main" id="{BEC020FE-9ACB-7602-F854-3793D53A34BF}"/>
              </a:ext>
            </a:extLst>
          </p:cNvPr>
          <p:cNvSpPr txBox="1"/>
          <p:nvPr/>
        </p:nvSpPr>
        <p:spPr>
          <a:xfrm>
            <a:off x="1732547" y="3019841"/>
            <a:ext cx="15965905" cy="4247317"/>
          </a:xfrm>
          <a:prstGeom prst="rect">
            <a:avLst/>
          </a:prstGeom>
          <a:noFill/>
        </p:spPr>
        <p:txBody>
          <a:bodyPr wrap="square" rtlCol="0">
            <a:spAutoFit/>
          </a:bodyPr>
          <a:lstStyle/>
          <a:p>
            <a:r>
              <a:rPr lang="en-US" sz="5400" dirty="0"/>
              <a:t>Based on evaluation metrics, LSTM achieved the lowest RMSE and MAPE, followed by </a:t>
            </a:r>
            <a:r>
              <a:rPr lang="en-US" sz="5400" dirty="0" err="1"/>
              <a:t>XGBoost</a:t>
            </a:r>
            <a:r>
              <a:rPr lang="en-US" sz="5400" dirty="0"/>
              <a:t> and Random Forest. Classical models like ARIMA and SARIMA showed comparatively lower performance. Overall ranking confirms deep learning as the most effective approach.</a:t>
            </a:r>
            <a:endParaRPr lang="en-IN" sz="5400" dirty="0"/>
          </a:p>
        </p:txBody>
      </p:sp>
    </p:spTree>
    <p:extLst>
      <p:ext uri="{BB962C8B-B14F-4D97-AF65-F5344CB8AC3E}">
        <p14:creationId xmlns:p14="http://schemas.microsoft.com/office/powerpoint/2010/main" val="840257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DECAD-D839-71B7-5680-4F52D47D799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AA7A332-BB24-9D57-9F76-DA485DD7106F}"/>
              </a:ext>
            </a:extLst>
          </p:cNvPr>
          <p:cNvSpPr txBox="1"/>
          <p:nvPr/>
        </p:nvSpPr>
        <p:spPr>
          <a:xfrm>
            <a:off x="3733800" y="1038135"/>
            <a:ext cx="11811000" cy="1200329"/>
          </a:xfrm>
          <a:prstGeom prst="rect">
            <a:avLst/>
          </a:prstGeom>
          <a:noFill/>
        </p:spPr>
        <p:txBody>
          <a:bodyPr wrap="square" rtlCol="0">
            <a:spAutoFit/>
          </a:bodyPr>
          <a:lstStyle/>
          <a:p>
            <a:r>
              <a:rPr lang="en-IN" sz="7200" dirty="0"/>
              <a:t>Model Comparison &amp; Ranking:</a:t>
            </a:r>
          </a:p>
        </p:txBody>
      </p:sp>
      <p:sp>
        <p:nvSpPr>
          <p:cNvPr id="8" name="TextBox 7">
            <a:extLst>
              <a:ext uri="{FF2B5EF4-FFF2-40B4-BE49-F238E27FC236}">
                <a16:creationId xmlns:a16="http://schemas.microsoft.com/office/drawing/2014/main" id="{D2ADD71B-EF32-B06A-54BC-FAF68DCF0105}"/>
              </a:ext>
            </a:extLst>
          </p:cNvPr>
          <p:cNvSpPr txBox="1"/>
          <p:nvPr/>
        </p:nvSpPr>
        <p:spPr>
          <a:xfrm>
            <a:off x="0" y="867688"/>
            <a:ext cx="9220200" cy="923330"/>
          </a:xfrm>
          <a:prstGeom prst="rect">
            <a:avLst/>
          </a:prstGeom>
          <a:noFill/>
        </p:spPr>
        <p:txBody>
          <a:bodyPr wrap="square" rtlCol="0">
            <a:spAutoFit/>
          </a:bodyPr>
          <a:lstStyle/>
          <a:p>
            <a:endParaRPr lang="en-IN" sz="5400" dirty="0"/>
          </a:p>
        </p:txBody>
      </p:sp>
      <p:pic>
        <p:nvPicPr>
          <p:cNvPr id="5" name="Picture 4">
            <a:extLst>
              <a:ext uri="{FF2B5EF4-FFF2-40B4-BE49-F238E27FC236}">
                <a16:creationId xmlns:a16="http://schemas.microsoft.com/office/drawing/2014/main" id="{AC846E29-8042-B87A-C7B3-87E1017D5A3F}"/>
              </a:ext>
            </a:extLst>
          </p:cNvPr>
          <p:cNvPicPr>
            <a:picLocks noChangeAspect="1"/>
          </p:cNvPicPr>
          <p:nvPr/>
        </p:nvPicPr>
        <p:blipFill>
          <a:blip r:embed="rId2">
            <a:extLst>
              <a:ext uri="{28A0092B-C50C-407E-A947-70E740481C1C}">
                <a14:useLocalDpi xmlns:a14="http://schemas.microsoft.com/office/drawing/2010/main" val="0"/>
              </a:ext>
            </a:extLst>
          </a:blip>
          <a:srcRect t="14458"/>
          <a:stretch>
            <a:fillRect/>
          </a:stretch>
        </p:blipFill>
        <p:spPr>
          <a:xfrm>
            <a:off x="487679" y="3238500"/>
            <a:ext cx="17465041" cy="5410200"/>
          </a:xfrm>
          <a:prstGeom prst="rect">
            <a:avLst/>
          </a:prstGeom>
        </p:spPr>
      </p:pic>
    </p:spTree>
    <p:extLst>
      <p:ext uri="{BB962C8B-B14F-4D97-AF65-F5344CB8AC3E}">
        <p14:creationId xmlns:p14="http://schemas.microsoft.com/office/powerpoint/2010/main" val="35285446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24BC1-EBB3-2AEA-40DF-7A2F1F843E2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5CF7ADB-7DB9-DAB0-8AB4-B8A6CC959840}"/>
              </a:ext>
            </a:extLst>
          </p:cNvPr>
          <p:cNvSpPr txBox="1"/>
          <p:nvPr/>
        </p:nvSpPr>
        <p:spPr>
          <a:xfrm>
            <a:off x="3429000" y="1038124"/>
            <a:ext cx="11811000" cy="1200329"/>
          </a:xfrm>
          <a:prstGeom prst="rect">
            <a:avLst/>
          </a:prstGeom>
          <a:noFill/>
        </p:spPr>
        <p:txBody>
          <a:bodyPr wrap="square" rtlCol="0">
            <a:spAutoFit/>
          </a:bodyPr>
          <a:lstStyle/>
          <a:p>
            <a:r>
              <a:rPr lang="en-IN" sz="7200" dirty="0"/>
              <a:t>Model Comparison &amp; Ranking:</a:t>
            </a:r>
          </a:p>
        </p:txBody>
      </p:sp>
      <p:pic>
        <p:nvPicPr>
          <p:cNvPr id="3" name="Picture 2">
            <a:extLst>
              <a:ext uri="{FF2B5EF4-FFF2-40B4-BE49-F238E27FC236}">
                <a16:creationId xmlns:a16="http://schemas.microsoft.com/office/drawing/2014/main" id="{3580003E-7573-A0B9-49B8-57E83377F9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183" y="2781300"/>
            <a:ext cx="17373633" cy="5791211"/>
          </a:xfrm>
          <a:prstGeom prst="rect">
            <a:avLst/>
          </a:prstGeom>
        </p:spPr>
      </p:pic>
    </p:spTree>
    <p:extLst>
      <p:ext uri="{BB962C8B-B14F-4D97-AF65-F5344CB8AC3E}">
        <p14:creationId xmlns:p14="http://schemas.microsoft.com/office/powerpoint/2010/main" val="1156654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90B4E-E6A5-95EA-B33E-6837320614C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0D39543-96CC-E6AA-CAAB-C1DBD158A3F5}"/>
              </a:ext>
            </a:extLst>
          </p:cNvPr>
          <p:cNvSpPr txBox="1"/>
          <p:nvPr/>
        </p:nvSpPr>
        <p:spPr>
          <a:xfrm>
            <a:off x="838200" y="1562100"/>
            <a:ext cx="17449800" cy="7848302"/>
          </a:xfrm>
          <a:prstGeom prst="rect">
            <a:avLst/>
          </a:prstGeom>
          <a:noFill/>
        </p:spPr>
        <p:txBody>
          <a:bodyPr wrap="square" rtlCol="0">
            <a:spAutoFit/>
          </a:bodyPr>
          <a:lstStyle/>
          <a:p>
            <a:r>
              <a:rPr lang="en-US" sz="7200" dirty="0"/>
              <a:t>                      Why LSTM is Best?</a:t>
            </a:r>
          </a:p>
          <a:p>
            <a:r>
              <a:rPr lang="en-US" sz="6000" dirty="0"/>
              <a:t>LSTM outperforms other models because it captures long-term dependencies, adapts to nonlinearity, and handles volatility effectively. Unlike ARIMA-based models, LSTM does not rely on strict statistical assumptions, making it more robust for real financial data.</a:t>
            </a:r>
          </a:p>
          <a:p>
            <a:endParaRPr lang="en-IN" sz="7200" dirty="0"/>
          </a:p>
        </p:txBody>
      </p:sp>
    </p:spTree>
    <p:extLst>
      <p:ext uri="{BB962C8B-B14F-4D97-AF65-F5344CB8AC3E}">
        <p14:creationId xmlns:p14="http://schemas.microsoft.com/office/powerpoint/2010/main" val="33268202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6965A-A5CF-905E-E63D-263EC1D554B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D57F416-7188-682D-CB53-4BBB81856028}"/>
              </a:ext>
            </a:extLst>
          </p:cNvPr>
          <p:cNvSpPr txBox="1"/>
          <p:nvPr/>
        </p:nvSpPr>
        <p:spPr>
          <a:xfrm>
            <a:off x="1066800" y="1219349"/>
            <a:ext cx="17449800" cy="7848302"/>
          </a:xfrm>
          <a:prstGeom prst="rect">
            <a:avLst/>
          </a:prstGeom>
          <a:noFill/>
        </p:spPr>
        <p:txBody>
          <a:bodyPr wrap="square" rtlCol="0">
            <a:spAutoFit/>
          </a:bodyPr>
          <a:lstStyle/>
          <a:p>
            <a:r>
              <a:rPr lang="en-US" sz="7200" dirty="0"/>
              <a:t>                  30-Day Future Forecast:</a:t>
            </a:r>
          </a:p>
          <a:p>
            <a:endParaRPr lang="en-US" sz="6000" dirty="0"/>
          </a:p>
          <a:p>
            <a:r>
              <a:rPr lang="en-US" sz="6000" dirty="0"/>
              <a:t>Using the trained LSTM model, stock prices were forecasted for the next 30 trading days. The forecast indicates a continuation of the existing trend with smoother transitions, providing a realistic outlook for short-term investment analysis.</a:t>
            </a:r>
          </a:p>
          <a:p>
            <a:endParaRPr lang="en-IN" sz="7200" dirty="0"/>
          </a:p>
        </p:txBody>
      </p:sp>
    </p:spTree>
    <p:extLst>
      <p:ext uri="{BB962C8B-B14F-4D97-AF65-F5344CB8AC3E}">
        <p14:creationId xmlns:p14="http://schemas.microsoft.com/office/powerpoint/2010/main" val="42511645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0F8E7-39BB-840D-DF2B-968D1AA21C0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0F3E730-0BFB-9B7B-2472-1777D4749450}"/>
              </a:ext>
            </a:extLst>
          </p:cNvPr>
          <p:cNvSpPr txBox="1"/>
          <p:nvPr/>
        </p:nvSpPr>
        <p:spPr>
          <a:xfrm>
            <a:off x="4572000" y="4152900"/>
            <a:ext cx="17449800" cy="1200329"/>
          </a:xfrm>
          <a:prstGeom prst="rect">
            <a:avLst/>
          </a:prstGeom>
          <a:noFill/>
        </p:spPr>
        <p:txBody>
          <a:bodyPr wrap="square" rtlCol="0">
            <a:spAutoFit/>
          </a:bodyPr>
          <a:lstStyle/>
          <a:p>
            <a:r>
              <a:rPr lang="en-US" sz="7200" dirty="0"/>
              <a:t>App deployment images </a:t>
            </a:r>
            <a:endParaRPr lang="en-IN" sz="7200" dirty="0"/>
          </a:p>
        </p:txBody>
      </p:sp>
    </p:spTree>
    <p:extLst>
      <p:ext uri="{BB962C8B-B14F-4D97-AF65-F5344CB8AC3E}">
        <p14:creationId xmlns:p14="http://schemas.microsoft.com/office/powerpoint/2010/main" val="15802237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420B4-292C-FF83-2BBA-EDBE31A13FD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197A379-A5B7-B7FF-4B88-359742D720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92" y="266701"/>
            <a:ext cx="18204816" cy="9829800"/>
          </a:xfrm>
          <a:prstGeom prst="rect">
            <a:avLst/>
          </a:prstGeom>
        </p:spPr>
      </p:pic>
    </p:spTree>
    <p:extLst>
      <p:ext uri="{BB962C8B-B14F-4D97-AF65-F5344CB8AC3E}">
        <p14:creationId xmlns:p14="http://schemas.microsoft.com/office/powerpoint/2010/main" val="42893145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EA0F5-5FCB-54C2-91BC-D9547B1B018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13F4EA1-E03B-C33B-6928-93B4FCA52B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39" y="114300"/>
            <a:ext cx="18242921" cy="10058400"/>
          </a:xfrm>
          <a:prstGeom prst="rect">
            <a:avLst/>
          </a:prstGeom>
        </p:spPr>
      </p:pic>
    </p:spTree>
    <p:extLst>
      <p:ext uri="{BB962C8B-B14F-4D97-AF65-F5344CB8AC3E}">
        <p14:creationId xmlns:p14="http://schemas.microsoft.com/office/powerpoint/2010/main" val="33658397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7A944-2161-A243-9667-EF0C583E062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53FF530-0A85-AF26-9636-B7AD39F4D5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697" y="190500"/>
            <a:ext cx="18128605" cy="9906000"/>
          </a:xfrm>
          <a:prstGeom prst="rect">
            <a:avLst/>
          </a:prstGeom>
        </p:spPr>
      </p:pic>
    </p:spTree>
    <p:extLst>
      <p:ext uri="{BB962C8B-B14F-4D97-AF65-F5344CB8AC3E}">
        <p14:creationId xmlns:p14="http://schemas.microsoft.com/office/powerpoint/2010/main" val="25551907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D4625-E88D-0961-04CB-ADBB7852C3A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02C1FBA-6C50-4827-3C87-81850D71570C}"/>
              </a:ext>
            </a:extLst>
          </p:cNvPr>
          <p:cNvSpPr txBox="1"/>
          <p:nvPr/>
        </p:nvSpPr>
        <p:spPr>
          <a:xfrm>
            <a:off x="609600" y="1562100"/>
            <a:ext cx="17449800" cy="8956298"/>
          </a:xfrm>
          <a:prstGeom prst="rect">
            <a:avLst/>
          </a:prstGeom>
          <a:noFill/>
        </p:spPr>
        <p:txBody>
          <a:bodyPr wrap="square" rtlCol="0">
            <a:spAutoFit/>
          </a:bodyPr>
          <a:lstStyle/>
          <a:p>
            <a:endParaRPr lang="en-US" sz="7200" dirty="0"/>
          </a:p>
          <a:p>
            <a:r>
              <a:rPr lang="en-US" sz="5400" dirty="0"/>
              <a:t>Multiple models were evaluated for Apple stock price forecasting.</a:t>
            </a:r>
          </a:p>
          <a:p>
            <a:r>
              <a:rPr lang="en-US" sz="5400" dirty="0"/>
              <a:t>SARIMA performed well by capturing trend and seasonality, making it a strong statistical baseline model.</a:t>
            </a:r>
          </a:p>
          <a:p>
            <a:r>
              <a:rPr lang="en-US" sz="5400" dirty="0"/>
              <a:t>LSTM achieved the best accuracy with the lowest error values by learning long-term and non-linear patterns.</a:t>
            </a:r>
          </a:p>
          <a:p>
            <a:r>
              <a:rPr lang="en-US" sz="5400" dirty="0"/>
              <a:t>Overall, SARIMA is good, but LSTM is the best model for reliable stock price prediction.</a:t>
            </a:r>
          </a:p>
          <a:p>
            <a:endParaRPr lang="en-IN" sz="7200" dirty="0"/>
          </a:p>
        </p:txBody>
      </p:sp>
      <p:sp>
        <p:nvSpPr>
          <p:cNvPr id="2" name="TextBox 1">
            <a:extLst>
              <a:ext uri="{FF2B5EF4-FFF2-40B4-BE49-F238E27FC236}">
                <a16:creationId xmlns:a16="http://schemas.microsoft.com/office/drawing/2014/main" id="{8655C1BB-2AD9-8864-FC48-95EA854140F1}"/>
              </a:ext>
            </a:extLst>
          </p:cNvPr>
          <p:cNvSpPr txBox="1"/>
          <p:nvPr/>
        </p:nvSpPr>
        <p:spPr>
          <a:xfrm>
            <a:off x="6705600" y="961935"/>
            <a:ext cx="7696200" cy="1200329"/>
          </a:xfrm>
          <a:prstGeom prst="rect">
            <a:avLst/>
          </a:prstGeom>
          <a:noFill/>
        </p:spPr>
        <p:txBody>
          <a:bodyPr wrap="square" rtlCol="0">
            <a:spAutoFit/>
          </a:bodyPr>
          <a:lstStyle/>
          <a:p>
            <a:r>
              <a:rPr lang="en-US" sz="7200" dirty="0"/>
              <a:t> Conclusion:</a:t>
            </a:r>
            <a:endParaRPr lang="en-IN" sz="7200" dirty="0"/>
          </a:p>
        </p:txBody>
      </p:sp>
    </p:spTree>
    <p:extLst>
      <p:ext uri="{BB962C8B-B14F-4D97-AF65-F5344CB8AC3E}">
        <p14:creationId xmlns:p14="http://schemas.microsoft.com/office/powerpoint/2010/main" val="2066945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8BA40-EE01-8E86-27A0-F1EF5EDD1A6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62A2E32-1174-C848-B900-83DB6B3915B5}"/>
              </a:ext>
            </a:extLst>
          </p:cNvPr>
          <p:cNvSpPr txBox="1"/>
          <p:nvPr/>
        </p:nvSpPr>
        <p:spPr>
          <a:xfrm>
            <a:off x="7162800" y="4305300"/>
            <a:ext cx="7696200" cy="1200329"/>
          </a:xfrm>
          <a:prstGeom prst="rect">
            <a:avLst/>
          </a:prstGeom>
          <a:noFill/>
        </p:spPr>
        <p:txBody>
          <a:bodyPr wrap="square" rtlCol="0">
            <a:spAutoFit/>
          </a:bodyPr>
          <a:lstStyle/>
          <a:p>
            <a:r>
              <a:rPr lang="en-US" sz="7200" dirty="0"/>
              <a:t>Thank you</a:t>
            </a:r>
            <a:endParaRPr lang="en-IN" sz="7200" dirty="0"/>
          </a:p>
        </p:txBody>
      </p:sp>
    </p:spTree>
    <p:extLst>
      <p:ext uri="{BB962C8B-B14F-4D97-AF65-F5344CB8AC3E}">
        <p14:creationId xmlns:p14="http://schemas.microsoft.com/office/powerpoint/2010/main" val="1800999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105</TotalTime>
  <Words>1253</Words>
  <Application>Microsoft Office PowerPoint</Application>
  <PresentationFormat>Custom</PresentationFormat>
  <Paragraphs>87</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Calibri</vt:lpstr>
      <vt:lpstr>Constantia</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White Modern Stock Market Presentation</dc:title>
  <dc:creator>Koushik Arnuri</dc:creator>
  <cp:lastModifiedBy>Koushik Arnuri</cp:lastModifiedBy>
  <cp:revision>8</cp:revision>
  <dcterms:created xsi:type="dcterms:W3CDTF">2006-08-16T00:00:00Z</dcterms:created>
  <dcterms:modified xsi:type="dcterms:W3CDTF">2026-01-05T06:02:38Z</dcterms:modified>
  <dc:identifier>DAG8-DJUeGU</dc:identifier>
</cp:coreProperties>
</file>